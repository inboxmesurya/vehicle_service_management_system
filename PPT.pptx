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Times New Roman MT" charset="1" panose="02030502070405020303"/>
      <p:regular r:id="rId30"/>
    </p:embeddedFont>
    <p:embeddedFont>
      <p:font typeface="Gotham Bold" charset="1" panose="00000000000000000000"/>
      <p:regular r:id="rId31"/>
    </p:embeddedFont>
    <p:embeddedFont>
      <p:font typeface="Gotham" charset="1" panose="00000000000000000000"/>
      <p:regular r:id="rId32"/>
    </p:embeddedFont>
    <p:embeddedFont>
      <p:font typeface="Canva Sans" charset="1" panose="020B0503030501040103"/>
      <p:regular r:id="rId33"/>
    </p:embeddedFont>
    <p:embeddedFont>
      <p:font typeface="Times New Roman MT Bold" charset="1" panose="020308020704050203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24318" y="-7273107"/>
            <a:ext cx="10887150" cy="15420090"/>
          </a:xfrm>
          <a:custGeom>
            <a:avLst/>
            <a:gdLst/>
            <a:ahLst/>
            <a:cxnLst/>
            <a:rect r="r" b="b" t="t" l="l"/>
            <a:pathLst>
              <a:path h="15420090" w="10887150">
                <a:moveTo>
                  <a:pt x="0" y="0"/>
                </a:moveTo>
                <a:lnTo>
                  <a:pt x="10887150" y="0"/>
                </a:lnTo>
                <a:lnTo>
                  <a:pt x="10887150" y="15420089"/>
                </a:lnTo>
                <a:lnTo>
                  <a:pt x="0" y="15420089"/>
                </a:lnTo>
                <a:lnTo>
                  <a:pt x="0" y="0"/>
                </a:lnTo>
                <a:close/>
              </a:path>
            </a:pathLst>
          </a:custGeom>
          <a:blipFill>
            <a:blip r:embed="rId2"/>
            <a:stretch>
              <a:fillRect l="0" t="0" r="0" b="0"/>
            </a:stretch>
          </a:blipFill>
        </p:spPr>
      </p:sp>
      <p:sp>
        <p:nvSpPr>
          <p:cNvPr name="Freeform 3" id="3"/>
          <p:cNvSpPr/>
          <p:nvPr/>
        </p:nvSpPr>
        <p:spPr>
          <a:xfrm flipH="false" flipV="false" rot="-1675130">
            <a:off x="-6386631" y="4285641"/>
            <a:ext cx="7797546" cy="8229600"/>
          </a:xfrm>
          <a:custGeom>
            <a:avLst/>
            <a:gdLst/>
            <a:ahLst/>
            <a:cxnLst/>
            <a:rect r="r" b="b" t="t" l="l"/>
            <a:pathLst>
              <a:path h="8229600" w="7797546">
                <a:moveTo>
                  <a:pt x="0" y="0"/>
                </a:moveTo>
                <a:lnTo>
                  <a:pt x="7797546" y="0"/>
                </a:lnTo>
                <a:lnTo>
                  <a:pt x="7797546" y="8229600"/>
                </a:lnTo>
                <a:lnTo>
                  <a:pt x="0" y="8229600"/>
                </a:lnTo>
                <a:lnTo>
                  <a:pt x="0" y="0"/>
                </a:lnTo>
                <a:close/>
              </a:path>
            </a:pathLst>
          </a:custGeom>
          <a:blipFill>
            <a:blip r:embed="rId3"/>
            <a:stretch>
              <a:fillRect l="0" t="0" r="0" b="0"/>
            </a:stretch>
          </a:blipFill>
        </p:spPr>
      </p:sp>
      <p:sp>
        <p:nvSpPr>
          <p:cNvPr name="TextBox 4" id="4"/>
          <p:cNvSpPr txBox="true"/>
          <p:nvPr/>
        </p:nvSpPr>
        <p:spPr>
          <a:xfrm rot="0">
            <a:off x="1028700" y="1742455"/>
            <a:ext cx="16448693" cy="7119606"/>
          </a:xfrm>
          <a:prstGeom prst="rect">
            <a:avLst/>
          </a:prstGeom>
        </p:spPr>
        <p:txBody>
          <a:bodyPr anchor="t" rtlCol="false" tIns="0" lIns="0" bIns="0" rIns="0">
            <a:spAutoFit/>
          </a:bodyPr>
          <a:lstStyle/>
          <a:p>
            <a:pPr algn="ctr">
              <a:lnSpc>
                <a:spcPts val="16801"/>
              </a:lnSpc>
            </a:pPr>
            <a:r>
              <a:rPr lang="en-US" sz="12000" spc="-720">
                <a:gradFill>
                  <a:gsLst>
                    <a:gs pos="0">
                      <a:srgbClr val="8F8F8F">
                        <a:alpha val="100000"/>
                      </a:srgbClr>
                    </a:gs>
                    <a:gs pos="33333">
                      <a:srgbClr val="000000">
                        <a:alpha val="100000"/>
                      </a:srgbClr>
                    </a:gs>
                    <a:gs pos="66667">
                      <a:srgbClr val="000000">
                        <a:alpha val="100000"/>
                      </a:srgbClr>
                    </a:gs>
                    <a:gs pos="100000">
                      <a:srgbClr val="8F8F8F">
                        <a:alpha val="100000"/>
                      </a:srgbClr>
                    </a:gs>
                  </a:gsLst>
                  <a:lin ang="2700000"/>
                </a:gradFill>
                <a:latin typeface="Times New Roman MT"/>
                <a:ea typeface="Times New Roman MT"/>
                <a:cs typeface="Times New Roman MT"/>
                <a:sym typeface="Times New Roman MT"/>
              </a:rPr>
              <a:t>Vehicle Service Management System</a:t>
            </a:r>
          </a:p>
          <a:p>
            <a:pPr algn="ctr">
              <a:lnSpc>
                <a:spcPts val="21560"/>
              </a:lnSpc>
            </a:pPr>
          </a:p>
        </p:txBody>
      </p:sp>
      <p:sp>
        <p:nvSpPr>
          <p:cNvPr name="TextBox 5" id="5"/>
          <p:cNvSpPr txBox="true"/>
          <p:nvPr/>
        </p:nvSpPr>
        <p:spPr>
          <a:xfrm rot="0">
            <a:off x="8267645" y="6836823"/>
            <a:ext cx="4694173" cy="561976"/>
          </a:xfrm>
          <a:prstGeom prst="rect">
            <a:avLst/>
          </a:prstGeom>
        </p:spPr>
        <p:txBody>
          <a:bodyPr anchor="t" rtlCol="false" tIns="0" lIns="0" bIns="0" rIns="0">
            <a:spAutoFit/>
          </a:bodyPr>
          <a:lstStyle/>
          <a:p>
            <a:pPr algn="l" marL="0" indent="0" lvl="0">
              <a:lnSpc>
                <a:spcPts val="4199"/>
              </a:lnSpc>
              <a:spcBef>
                <a:spcPct val="0"/>
              </a:spcBef>
            </a:pPr>
            <a:r>
              <a:rPr lang="en-US" sz="2999" spc="299">
                <a:solidFill>
                  <a:srgbClr val="000000"/>
                </a:solidFill>
                <a:latin typeface="Times New Roman MT"/>
                <a:ea typeface="Times New Roman MT"/>
                <a:cs typeface="Times New Roman MT"/>
                <a:sym typeface="Times New Roman MT"/>
              </a:rPr>
              <a:t>PRESENTED BY</a:t>
            </a:r>
          </a:p>
        </p:txBody>
      </p:sp>
      <p:sp>
        <p:nvSpPr>
          <p:cNvPr name="TextBox 6" id="6"/>
          <p:cNvSpPr txBox="true"/>
          <p:nvPr/>
        </p:nvSpPr>
        <p:spPr>
          <a:xfrm rot="0">
            <a:off x="8267645" y="7872412"/>
            <a:ext cx="10290810" cy="2657476"/>
          </a:xfrm>
          <a:prstGeom prst="rect">
            <a:avLst/>
          </a:prstGeom>
        </p:spPr>
        <p:txBody>
          <a:bodyPr anchor="t" rtlCol="false" tIns="0" lIns="0" bIns="0" rIns="0">
            <a:spAutoFit/>
          </a:bodyPr>
          <a:lstStyle/>
          <a:p>
            <a:pPr algn="l">
              <a:lnSpc>
                <a:spcPts val="4199"/>
              </a:lnSpc>
            </a:pPr>
            <a:r>
              <a:rPr lang="en-US" sz="2999" spc="299">
                <a:solidFill>
                  <a:srgbClr val="000000"/>
                </a:solidFill>
                <a:latin typeface="Times New Roman MT"/>
                <a:ea typeface="Times New Roman MT"/>
                <a:cs typeface="Times New Roman MT"/>
                <a:sym typeface="Times New Roman MT"/>
              </a:rPr>
              <a:t>S SANJANA                    AM.SC.U4AID24036</a:t>
            </a:r>
          </a:p>
          <a:p>
            <a:pPr algn="l">
              <a:lnSpc>
                <a:spcPts val="4199"/>
              </a:lnSpc>
            </a:pPr>
            <a:r>
              <a:rPr lang="en-US" sz="2999" spc="299">
                <a:solidFill>
                  <a:srgbClr val="000000"/>
                </a:solidFill>
                <a:latin typeface="Times New Roman MT"/>
                <a:ea typeface="Times New Roman MT"/>
                <a:cs typeface="Times New Roman MT"/>
                <a:sym typeface="Times New Roman MT"/>
              </a:rPr>
              <a:t>SURYA SURESH             AM.SC.U4AID24045</a:t>
            </a:r>
          </a:p>
          <a:p>
            <a:pPr algn="l">
              <a:lnSpc>
                <a:spcPts val="4199"/>
              </a:lnSpc>
            </a:pPr>
            <a:r>
              <a:rPr lang="en-US" sz="2999" spc="299">
                <a:solidFill>
                  <a:srgbClr val="000000"/>
                </a:solidFill>
                <a:latin typeface="Times New Roman MT"/>
                <a:ea typeface="Times New Roman MT"/>
                <a:cs typeface="Times New Roman MT"/>
                <a:sym typeface="Times New Roman MT"/>
              </a:rPr>
              <a:t>VAISHNAVI KS               AM.SC.U4AID24048</a:t>
            </a:r>
          </a:p>
          <a:p>
            <a:pPr algn="l">
              <a:lnSpc>
                <a:spcPts val="4199"/>
              </a:lnSpc>
            </a:pPr>
            <a:r>
              <a:rPr lang="en-US" sz="2999" spc="299">
                <a:solidFill>
                  <a:srgbClr val="000000"/>
                </a:solidFill>
                <a:latin typeface="Times New Roman MT"/>
                <a:ea typeface="Times New Roman MT"/>
                <a:cs typeface="Times New Roman MT"/>
                <a:sym typeface="Times New Roman MT"/>
              </a:rPr>
              <a:t>SREEKANTH S               AM.SC.U4AID24066</a:t>
            </a:r>
          </a:p>
          <a:p>
            <a:pPr algn="l" marL="0" indent="0" lvl="0">
              <a:lnSpc>
                <a:spcPts val="4199"/>
              </a:lnSpc>
              <a:spcBef>
                <a:spcPct val="0"/>
              </a:spcBef>
            </a:pPr>
          </a:p>
        </p:txBody>
      </p:sp>
      <p:sp>
        <p:nvSpPr>
          <p:cNvPr name="TextBox 7" id="7"/>
          <p:cNvSpPr txBox="true"/>
          <p:nvPr/>
        </p:nvSpPr>
        <p:spPr>
          <a:xfrm rot="0">
            <a:off x="914400" y="7605712"/>
            <a:ext cx="5088452" cy="1931672"/>
          </a:xfrm>
          <a:prstGeom prst="rect">
            <a:avLst/>
          </a:prstGeom>
        </p:spPr>
        <p:txBody>
          <a:bodyPr anchor="t" rtlCol="false" tIns="0" lIns="0" bIns="0" rIns="0">
            <a:spAutoFit/>
          </a:bodyPr>
          <a:lstStyle/>
          <a:p>
            <a:pPr algn="ctr">
              <a:lnSpc>
                <a:spcPts val="5219"/>
              </a:lnSpc>
            </a:pPr>
            <a:r>
              <a:rPr lang="en-US" sz="2899" b="true">
                <a:solidFill>
                  <a:srgbClr val="000000"/>
                </a:solidFill>
                <a:latin typeface="Gotham Bold"/>
                <a:ea typeface="Gotham Bold"/>
                <a:cs typeface="Gotham Bold"/>
                <a:sym typeface="Gotham Bold"/>
              </a:rPr>
              <a:t>23AID214</a:t>
            </a:r>
          </a:p>
          <a:p>
            <a:pPr algn="ctr">
              <a:lnSpc>
                <a:spcPts val="5219"/>
              </a:lnSpc>
              <a:spcBef>
                <a:spcPct val="0"/>
              </a:spcBef>
            </a:pPr>
            <a:r>
              <a:rPr lang="en-US" sz="2899">
                <a:solidFill>
                  <a:srgbClr val="000000"/>
                </a:solidFill>
                <a:latin typeface="Gotham"/>
                <a:ea typeface="Gotham"/>
                <a:cs typeface="Gotham"/>
                <a:sym typeface="Gotham"/>
              </a:rPr>
              <a:t>DATABASE MANAGEMENT SYSTEMS</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4245466" y="6708563"/>
            <a:ext cx="7797546" cy="8229600"/>
          </a:xfrm>
          <a:custGeom>
            <a:avLst/>
            <a:gdLst/>
            <a:ahLst/>
            <a:cxnLst/>
            <a:rect r="r" b="b" t="t" l="l"/>
            <a:pathLst>
              <a:path h="8229600" w="7797546">
                <a:moveTo>
                  <a:pt x="0" y="0"/>
                </a:moveTo>
                <a:lnTo>
                  <a:pt x="7797546" y="0"/>
                </a:lnTo>
                <a:lnTo>
                  <a:pt x="7797546"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819150"/>
            <a:ext cx="3724275" cy="1024890"/>
          </a:xfrm>
          <a:prstGeom prst="rect">
            <a:avLst/>
          </a:prstGeom>
        </p:spPr>
        <p:txBody>
          <a:bodyPr anchor="t" rtlCol="false" tIns="0" lIns="0" bIns="0" rIns="0">
            <a:spAutoFit/>
          </a:bodyPr>
          <a:lstStyle/>
          <a:p>
            <a:pPr algn="ctr">
              <a:lnSpc>
                <a:spcPts val="7559"/>
              </a:lnSpc>
            </a:pPr>
            <a:r>
              <a:rPr lang="en-US" b="true" sz="53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ABSTRACT</a:t>
            </a:r>
          </a:p>
        </p:txBody>
      </p:sp>
      <p:sp>
        <p:nvSpPr>
          <p:cNvPr name="TextBox 4" id="4"/>
          <p:cNvSpPr txBox="true"/>
          <p:nvPr/>
        </p:nvSpPr>
        <p:spPr>
          <a:xfrm rot="0">
            <a:off x="1639419" y="1868170"/>
            <a:ext cx="15009162" cy="7390130"/>
          </a:xfrm>
          <a:prstGeom prst="rect">
            <a:avLst/>
          </a:prstGeom>
        </p:spPr>
        <p:txBody>
          <a:bodyPr anchor="t" rtlCol="false" tIns="0" lIns="0" bIns="0" rIns="0">
            <a:spAutoFit/>
          </a:bodyPr>
          <a:lstStyle/>
          <a:p>
            <a:pPr algn="just">
              <a:lnSpc>
                <a:spcPts val="5319"/>
              </a:lnSpc>
            </a:pPr>
            <a:r>
              <a:rPr lang="en-US" sz="3799">
                <a:solidFill>
                  <a:srgbClr val="000000"/>
                </a:solidFill>
                <a:latin typeface="Times New Roman MT"/>
                <a:ea typeface="Times New Roman MT"/>
                <a:cs typeface="Times New Roman MT"/>
                <a:sym typeface="Times New Roman MT"/>
              </a:rPr>
              <a:t>The Vehicle Service Management System is a centralize</a:t>
            </a:r>
            <a:r>
              <a:rPr lang="en-US" sz="3799">
                <a:solidFill>
                  <a:srgbClr val="000000"/>
                </a:solidFill>
                <a:latin typeface="Times New Roman MT"/>
                <a:ea typeface="Times New Roman MT"/>
                <a:cs typeface="Times New Roman MT"/>
                <a:sym typeface="Times New Roman MT"/>
              </a:rPr>
              <a:t>d database solution designed to replace manual record-keeping in vehicle service centers by efficiently managing entities such as Customer, Vehicle, Mechanic, Service Record, Spare Parts, and Billing through Entity-Relationship (ER) modelling. The system incorporates key DBMS concepts including primary keys, foreign keys, constraints, and weak entities to ensure data integrity, while offering features such as automatic bill calculation, spare parts stock monitoring, and next service date prediction using SQL for all core database operations, thereby improving accuracy, reducing redundancy, and enhancing overall service center efficiency.</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986727" y="1572553"/>
            <a:ext cx="14395587" cy="8331446"/>
          </a:xfrm>
          <a:custGeom>
            <a:avLst/>
            <a:gdLst/>
            <a:ahLst/>
            <a:cxnLst/>
            <a:rect r="r" b="b" t="t" l="l"/>
            <a:pathLst>
              <a:path h="8331446" w="14395587">
                <a:moveTo>
                  <a:pt x="0" y="0"/>
                </a:moveTo>
                <a:lnTo>
                  <a:pt x="14395588" y="0"/>
                </a:lnTo>
                <a:lnTo>
                  <a:pt x="14395588" y="8331446"/>
                </a:lnTo>
                <a:lnTo>
                  <a:pt x="0" y="8331446"/>
                </a:lnTo>
                <a:lnTo>
                  <a:pt x="0" y="0"/>
                </a:lnTo>
                <a:close/>
              </a:path>
            </a:pathLst>
          </a:custGeom>
          <a:blipFill>
            <a:blip r:embed="rId3"/>
            <a:stretch>
              <a:fillRect l="0" t="0" r="0" b="0"/>
            </a:stretch>
          </a:blipFill>
        </p:spPr>
      </p:sp>
      <p:sp>
        <p:nvSpPr>
          <p:cNvPr name="TextBox 4" id="4"/>
          <p:cNvSpPr txBox="true"/>
          <p:nvPr/>
        </p:nvSpPr>
        <p:spPr>
          <a:xfrm rot="0">
            <a:off x="16782727" y="9262110"/>
            <a:ext cx="631555" cy="377190"/>
          </a:xfrm>
          <a:prstGeom prst="rect">
            <a:avLst/>
          </a:prstGeom>
        </p:spPr>
        <p:txBody>
          <a:bodyPr anchor="t" rtlCol="false" tIns="0" lIns="0" bIns="0" rIns="0">
            <a:spAutoFit/>
          </a:bodyPr>
          <a:lstStyle/>
          <a:p>
            <a:pPr algn="r" marL="0" indent="0" lvl="0">
              <a:lnSpc>
                <a:spcPts val="3240"/>
              </a:lnSpc>
            </a:pPr>
            <a:r>
              <a:rPr lang="en-US" b="true" sz="1800">
                <a:solidFill>
                  <a:srgbClr val="000000"/>
                </a:solidFill>
                <a:latin typeface="Gotham Bold"/>
                <a:ea typeface="Gotham Bold"/>
                <a:cs typeface="Gotham Bold"/>
                <a:sym typeface="Gotham Bold"/>
              </a:rPr>
              <a:t>3</a:t>
            </a:r>
          </a:p>
        </p:txBody>
      </p:sp>
      <p:sp>
        <p:nvSpPr>
          <p:cNvPr name="TextBox 5" id="5"/>
          <p:cNvSpPr txBox="true"/>
          <p:nvPr/>
        </p:nvSpPr>
        <p:spPr>
          <a:xfrm rot="0">
            <a:off x="1106940" y="306366"/>
            <a:ext cx="4905494" cy="1109980"/>
          </a:xfrm>
          <a:prstGeom prst="rect">
            <a:avLst/>
          </a:prstGeom>
        </p:spPr>
        <p:txBody>
          <a:bodyPr anchor="t" rtlCol="false" tIns="0" lIns="0" bIns="0" rIns="0">
            <a:spAutoFit/>
          </a:bodyPr>
          <a:lstStyle/>
          <a:p>
            <a:pPr algn="ctr">
              <a:lnSpc>
                <a:spcPts val="8119"/>
              </a:lnSpc>
            </a:pPr>
            <a:r>
              <a:rPr lang="en-US" b="true" sz="57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ER DIAGRAM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3789609" y="2143857"/>
            <a:ext cx="11430586" cy="7114443"/>
          </a:xfrm>
          <a:custGeom>
            <a:avLst/>
            <a:gdLst/>
            <a:ahLst/>
            <a:cxnLst/>
            <a:rect r="r" b="b" t="t" l="l"/>
            <a:pathLst>
              <a:path h="7114443" w="11430586">
                <a:moveTo>
                  <a:pt x="0" y="0"/>
                </a:moveTo>
                <a:lnTo>
                  <a:pt x="11430586" y="0"/>
                </a:lnTo>
                <a:lnTo>
                  <a:pt x="11430586" y="7114443"/>
                </a:lnTo>
                <a:lnTo>
                  <a:pt x="0" y="7114443"/>
                </a:lnTo>
                <a:lnTo>
                  <a:pt x="0" y="0"/>
                </a:lnTo>
                <a:close/>
              </a:path>
            </a:pathLst>
          </a:custGeom>
          <a:blipFill>
            <a:blip r:embed="rId3"/>
            <a:stretch>
              <a:fillRect l="0" t="0" r="0" b="0"/>
            </a:stretch>
          </a:blipFill>
        </p:spPr>
      </p:sp>
      <p:sp>
        <p:nvSpPr>
          <p:cNvPr name="TextBox 4" id="4"/>
          <p:cNvSpPr txBox="true"/>
          <p:nvPr/>
        </p:nvSpPr>
        <p:spPr>
          <a:xfrm rot="0">
            <a:off x="887135" y="828675"/>
            <a:ext cx="6468785" cy="991870"/>
          </a:xfrm>
          <a:prstGeom prst="rect">
            <a:avLst/>
          </a:prstGeom>
        </p:spPr>
        <p:txBody>
          <a:bodyPr anchor="t" rtlCol="false" tIns="0" lIns="0" bIns="0" rIns="0">
            <a:spAutoFit/>
          </a:bodyPr>
          <a:lstStyle/>
          <a:p>
            <a:pPr algn="ctr">
              <a:lnSpc>
                <a:spcPts val="7279"/>
              </a:lnSpc>
            </a:pPr>
            <a:r>
              <a:rPr lang="en-US" b="true" sz="51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SCHEMA DIAGRAM</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15228" y="-5321873"/>
            <a:ext cx="5835535" cy="8229600"/>
          </a:xfrm>
          <a:custGeom>
            <a:avLst/>
            <a:gdLst/>
            <a:ahLst/>
            <a:cxnLst/>
            <a:rect r="r" b="b" t="t" l="l"/>
            <a:pathLst>
              <a:path h="8229600" w="5835535">
                <a:moveTo>
                  <a:pt x="0" y="0"/>
                </a:moveTo>
                <a:lnTo>
                  <a:pt x="5835535" y="0"/>
                </a:lnTo>
                <a:lnTo>
                  <a:pt x="5835535" y="8229600"/>
                </a:lnTo>
                <a:lnTo>
                  <a:pt x="0" y="8229600"/>
                </a:lnTo>
                <a:lnTo>
                  <a:pt x="0" y="0"/>
                </a:lnTo>
                <a:close/>
              </a:path>
            </a:pathLst>
          </a:custGeom>
          <a:blipFill>
            <a:blip r:embed="rId2"/>
            <a:stretch>
              <a:fillRect l="0" t="0" r="0" b="0"/>
            </a:stretch>
          </a:blipFill>
        </p:spPr>
      </p:sp>
      <p:sp>
        <p:nvSpPr>
          <p:cNvPr name="TextBox 3" id="3"/>
          <p:cNvSpPr txBox="true"/>
          <p:nvPr/>
        </p:nvSpPr>
        <p:spPr>
          <a:xfrm rot="0">
            <a:off x="16782727" y="9262110"/>
            <a:ext cx="631555" cy="377190"/>
          </a:xfrm>
          <a:prstGeom prst="rect">
            <a:avLst/>
          </a:prstGeom>
        </p:spPr>
        <p:txBody>
          <a:bodyPr anchor="t" rtlCol="false" tIns="0" lIns="0" bIns="0" rIns="0">
            <a:spAutoFit/>
          </a:bodyPr>
          <a:lstStyle/>
          <a:p>
            <a:pPr algn="r" marL="0" indent="0" lvl="0">
              <a:lnSpc>
                <a:spcPts val="3240"/>
              </a:lnSpc>
            </a:pPr>
            <a:r>
              <a:rPr lang="en-US" b="true" sz="1800">
                <a:solidFill>
                  <a:srgbClr val="000000"/>
                </a:solidFill>
                <a:latin typeface="Gotham Bold"/>
                <a:ea typeface="Gotham Bold"/>
                <a:cs typeface="Gotham Bold"/>
                <a:sym typeface="Gotham Bold"/>
              </a:rPr>
              <a:t>5</a:t>
            </a:r>
          </a:p>
        </p:txBody>
      </p:sp>
      <p:sp>
        <p:nvSpPr>
          <p:cNvPr name="Freeform 4" id="4"/>
          <p:cNvSpPr/>
          <p:nvPr/>
        </p:nvSpPr>
        <p:spPr>
          <a:xfrm flipH="false" flipV="false" rot="9769741">
            <a:off x="-2533170" y="6172200"/>
            <a:ext cx="9472921" cy="8229600"/>
          </a:xfrm>
          <a:custGeom>
            <a:avLst/>
            <a:gdLst/>
            <a:ahLst/>
            <a:cxnLst/>
            <a:rect r="r" b="b" t="t" l="l"/>
            <a:pathLst>
              <a:path h="8229600" w="9472921">
                <a:moveTo>
                  <a:pt x="0" y="0"/>
                </a:moveTo>
                <a:lnTo>
                  <a:pt x="9472921" y="0"/>
                </a:lnTo>
                <a:lnTo>
                  <a:pt x="9472921" y="8229600"/>
                </a:lnTo>
                <a:lnTo>
                  <a:pt x="0" y="8229600"/>
                </a:lnTo>
                <a:lnTo>
                  <a:pt x="0" y="0"/>
                </a:lnTo>
                <a:close/>
              </a:path>
            </a:pathLst>
          </a:custGeom>
          <a:blipFill>
            <a:blip r:embed="rId3"/>
            <a:stretch>
              <a:fillRect l="0" t="0" r="0" b="0"/>
            </a:stretch>
          </a:blipFill>
        </p:spPr>
      </p:sp>
      <p:sp>
        <p:nvSpPr>
          <p:cNvPr name="TextBox 5" id="5"/>
          <p:cNvSpPr txBox="true"/>
          <p:nvPr/>
        </p:nvSpPr>
        <p:spPr>
          <a:xfrm rot="0">
            <a:off x="1028700" y="611764"/>
            <a:ext cx="4322683" cy="1083945"/>
          </a:xfrm>
          <a:prstGeom prst="rect">
            <a:avLst/>
          </a:prstGeom>
        </p:spPr>
        <p:txBody>
          <a:bodyPr anchor="t" rtlCol="false" tIns="0" lIns="0" bIns="0" rIns="0">
            <a:spAutoFit/>
          </a:bodyPr>
          <a:lstStyle/>
          <a:p>
            <a:pPr algn="ctr">
              <a:lnSpc>
                <a:spcPts val="7979"/>
              </a:lnSpc>
            </a:pPr>
            <a:r>
              <a:rPr lang="en-US" b="true" sz="56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Normalisation</a:t>
            </a:r>
          </a:p>
        </p:txBody>
      </p:sp>
      <p:sp>
        <p:nvSpPr>
          <p:cNvPr name="TextBox 6" id="6"/>
          <p:cNvSpPr txBox="true"/>
          <p:nvPr/>
        </p:nvSpPr>
        <p:spPr>
          <a:xfrm rot="0">
            <a:off x="1344478" y="1687470"/>
            <a:ext cx="16069805" cy="8372476"/>
          </a:xfrm>
          <a:prstGeom prst="rect">
            <a:avLst/>
          </a:prstGeom>
        </p:spPr>
        <p:txBody>
          <a:bodyPr anchor="t" rtlCol="false" tIns="0" lIns="0" bIns="0" rIns="0">
            <a:spAutoFit/>
          </a:bodyPr>
          <a:lstStyle/>
          <a:p>
            <a:pPr algn="just">
              <a:lnSpc>
                <a:spcPts val="4859"/>
              </a:lnSpc>
            </a:pPr>
            <a:r>
              <a:rPr lang="en-US" b="true" sz="2699" u="sng">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UNIVERSAL_RELATION</a:t>
            </a:r>
            <a:r>
              <a:rPr lang="en-US" b="true" sz="2699" u="sng">
                <a:solidFill>
                  <a:srgbClr val="000000"/>
                </a:solidFill>
                <a:latin typeface="Times New Roman MT Bold"/>
                <a:ea typeface="Times New Roman MT Bold"/>
                <a:cs typeface="Times New Roman MT Bold"/>
                <a:sym typeface="Times New Roman MT Bold"/>
              </a:rPr>
              <a:t> </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UNIVERSAL_RELATION</a:t>
            </a:r>
            <a:r>
              <a:rPr lang="en-US" b="true" sz="2699">
                <a:solidFill>
                  <a:srgbClr val="000000"/>
                </a:solidFill>
                <a:latin typeface="Times New Roman MT Bold"/>
                <a:ea typeface="Times New Roman MT Bold"/>
                <a:cs typeface="Times New Roman MT Bold"/>
                <a:sym typeface="Times New Roman MT Bold"/>
              </a:rPr>
              <a:t> </a:t>
            </a:r>
            <a:r>
              <a:rPr lang="en-US" sz="2699">
                <a:solidFill>
                  <a:srgbClr val="000000"/>
                </a:solidFill>
                <a:latin typeface="Times New Roman MT"/>
                <a:ea typeface="Times New Roman MT"/>
                <a:cs typeface="Times New Roman MT"/>
                <a:sym typeface="Times New Roman MT"/>
              </a:rPr>
              <a:t>(</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customer_id, customer_name, address, phone_number</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vehicle_id, vehicle_number, model, brand,</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engine_cc, bike_type, seat_capacity, fuel_type,</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mechanic_id, mechanic_name,</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center_id, center_name,</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service_id, service_date, service_type, labor_cost, total_cost,</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record_id, description, time_taken,</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part_id, part_name, price,</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supplier_id, supplier_name,</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quantity_used,</a:t>
            </a:r>
          </a:p>
          <a:p>
            <a:pPr algn="just">
              <a:lnSpc>
                <a:spcPts val="4859"/>
              </a:lnSpc>
              <a:spcBef>
                <a:spcPct val="0"/>
              </a:spcBef>
            </a:pPr>
            <a:r>
              <a:rPr lang="en-US" sz="2699">
                <a:solidFill>
                  <a:srgbClr val="000000"/>
                </a:solidFill>
                <a:latin typeface="Times New Roman MT"/>
                <a:ea typeface="Times New Roman MT"/>
                <a:cs typeface="Times New Roman MT"/>
                <a:sym typeface="Times New Roman MT"/>
              </a:rPr>
              <a:t>bill_id, payment_id</a:t>
            </a:r>
          </a:p>
          <a:p>
            <a:pPr algn="just">
              <a:lnSpc>
                <a:spcPts val="3240"/>
              </a:lnSpc>
              <a:spcBef>
                <a:spcPct val="0"/>
              </a:spcBef>
            </a:pPr>
            <a:r>
              <a:rPr lang="en-US" sz="1800">
                <a:solidFill>
                  <a:srgbClr val="000000"/>
                </a:solidFill>
                <a:latin typeface="Gotham"/>
                <a:ea typeface="Gotham"/>
                <a:cs typeface="Gotham"/>
                <a:sym typeface="Gotham"/>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215228" y="-5321873"/>
            <a:ext cx="5835535" cy="8229600"/>
          </a:xfrm>
          <a:custGeom>
            <a:avLst/>
            <a:gdLst/>
            <a:ahLst/>
            <a:cxnLst/>
            <a:rect r="r" b="b" t="t" l="l"/>
            <a:pathLst>
              <a:path h="8229600" w="5835535">
                <a:moveTo>
                  <a:pt x="0" y="0"/>
                </a:moveTo>
                <a:lnTo>
                  <a:pt x="5835535" y="0"/>
                </a:lnTo>
                <a:lnTo>
                  <a:pt x="5835535"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9769741">
            <a:off x="-2533170" y="6172200"/>
            <a:ext cx="9472921" cy="8229600"/>
          </a:xfrm>
          <a:custGeom>
            <a:avLst/>
            <a:gdLst/>
            <a:ahLst/>
            <a:cxnLst/>
            <a:rect r="r" b="b" t="t" l="l"/>
            <a:pathLst>
              <a:path h="8229600" w="9472921">
                <a:moveTo>
                  <a:pt x="0" y="0"/>
                </a:moveTo>
                <a:lnTo>
                  <a:pt x="9472921" y="0"/>
                </a:lnTo>
                <a:lnTo>
                  <a:pt x="9472921" y="8229600"/>
                </a:lnTo>
                <a:lnTo>
                  <a:pt x="0" y="8229600"/>
                </a:lnTo>
                <a:lnTo>
                  <a:pt x="0" y="0"/>
                </a:lnTo>
                <a:close/>
              </a:path>
            </a:pathLst>
          </a:custGeom>
          <a:blipFill>
            <a:blip r:embed="rId3"/>
            <a:stretch>
              <a:fillRect l="0" t="0" r="0" b="0"/>
            </a:stretch>
          </a:blipFill>
        </p:spPr>
      </p:sp>
      <p:sp>
        <p:nvSpPr>
          <p:cNvPr name="TextBox 4" id="4"/>
          <p:cNvSpPr txBox="true"/>
          <p:nvPr/>
        </p:nvSpPr>
        <p:spPr>
          <a:xfrm rot="0">
            <a:off x="1028700" y="398274"/>
            <a:ext cx="7731381" cy="6448426"/>
          </a:xfrm>
          <a:prstGeom prst="rect">
            <a:avLst/>
          </a:prstGeom>
        </p:spPr>
        <p:txBody>
          <a:bodyPr anchor="t" rtlCol="false" tIns="0" lIns="0" bIns="0" rIns="0">
            <a:spAutoFit/>
          </a:bodyPr>
          <a:lstStyle/>
          <a:p>
            <a:pPr algn="just">
              <a:lnSpc>
                <a:spcPts val="5759"/>
              </a:lnSpc>
              <a:spcBef>
                <a:spcPct val="0"/>
              </a:spcBef>
            </a:pPr>
            <a:r>
              <a:rPr lang="en-US" b="true" sz="3199" u="sng">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ANOMALI</a:t>
            </a:r>
            <a:r>
              <a:rPr lang="en-US" b="true" sz="3199" u="sng">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ES</a:t>
            </a:r>
          </a:p>
          <a:p>
            <a:pPr algn="just">
              <a:lnSpc>
                <a:spcPts val="5219"/>
              </a:lnSpc>
              <a:spcBef>
                <a:spcPct val="0"/>
              </a:spcBef>
            </a:pPr>
            <a:r>
              <a:rPr lang="en-US" b="true" sz="2899">
                <a:solidFill>
                  <a:srgbClr val="000000"/>
                </a:solidFill>
                <a:latin typeface="Times New Roman MT Bold"/>
                <a:ea typeface="Times New Roman MT Bold"/>
                <a:cs typeface="Times New Roman MT Bold"/>
                <a:sym typeface="Times New Roman MT Bold"/>
              </a:rPr>
              <a:t>Insertion anomalies:</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(a) Cannot insert CUSTOMER alone</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(b) Cannot insert VEHICLE without SERVICE</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(c) Cannot insert MECHANIC independently</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(d) Cannot insert SERVICE CENTER alone</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(e) Cannot insert SPARE PART alone</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(f) Cannot insert SUPPLIER alone</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(g) Cannot insert BILL / PAYMENT alone</a:t>
            </a:r>
          </a:p>
          <a:p>
            <a:pPr algn="just">
              <a:lnSpc>
                <a:spcPts val="3240"/>
              </a:lnSpc>
              <a:spcBef>
                <a:spcPct val="0"/>
              </a:spcBef>
            </a:pPr>
          </a:p>
        </p:txBody>
      </p:sp>
      <p:sp>
        <p:nvSpPr>
          <p:cNvPr name="TextBox 5" id="5"/>
          <p:cNvSpPr txBox="true"/>
          <p:nvPr/>
        </p:nvSpPr>
        <p:spPr>
          <a:xfrm rot="0">
            <a:off x="9527919" y="216914"/>
            <a:ext cx="7731381" cy="5133976"/>
          </a:xfrm>
          <a:prstGeom prst="rect">
            <a:avLst/>
          </a:prstGeom>
        </p:spPr>
        <p:txBody>
          <a:bodyPr anchor="t" rtlCol="false" tIns="0" lIns="0" bIns="0" rIns="0">
            <a:spAutoFit/>
          </a:bodyPr>
          <a:lstStyle/>
          <a:p>
            <a:pPr algn="just">
              <a:lnSpc>
                <a:spcPts val="5759"/>
              </a:lnSpc>
            </a:pPr>
          </a:p>
          <a:p>
            <a:pPr algn="just">
              <a:lnSpc>
                <a:spcPts val="5219"/>
              </a:lnSpc>
              <a:spcBef>
                <a:spcPct val="0"/>
              </a:spcBef>
            </a:pPr>
            <a:r>
              <a:rPr lang="en-US" b="true" sz="2899">
                <a:solidFill>
                  <a:srgbClr val="000000"/>
                </a:solidFill>
                <a:latin typeface="Times New Roman MT Bold"/>
                <a:ea typeface="Times New Roman MT Bold"/>
                <a:cs typeface="Times New Roman MT Bold"/>
                <a:sym typeface="Times New Roman MT Bold"/>
              </a:rPr>
              <a:t>Del</a:t>
            </a:r>
            <a:r>
              <a:rPr lang="en-US" b="true" sz="2899">
                <a:solidFill>
                  <a:srgbClr val="000000"/>
                </a:solidFill>
                <a:latin typeface="Times New Roman MT Bold"/>
                <a:ea typeface="Times New Roman MT Bold"/>
                <a:cs typeface="Times New Roman MT Bold"/>
                <a:sym typeface="Times New Roman MT Bold"/>
              </a:rPr>
              <a:t>etion anomalies:</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(a) Deleting SERVICE deletes everything</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(b) Deleting last SERVICE of a VEHICLE</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(c) Deleting last VEHICLE of CUSTOMER</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(d) Deleting SERVICE_PART entry</a:t>
            </a:r>
          </a:p>
          <a:p>
            <a:pPr algn="just">
              <a:lnSpc>
                <a:spcPts val="5219"/>
              </a:lnSpc>
              <a:spcBef>
                <a:spcPct val="0"/>
              </a:spcBef>
            </a:pPr>
            <a:r>
              <a:rPr lang="en-US" sz="2899">
                <a:solidFill>
                  <a:srgbClr val="000000"/>
                </a:solidFill>
                <a:latin typeface="Times New Roman MT"/>
                <a:ea typeface="Times New Roman MT"/>
                <a:cs typeface="Times New Roman MT"/>
                <a:sym typeface="Times New Roman MT"/>
              </a:rPr>
              <a:t>(e) Deleting BILL</a:t>
            </a:r>
          </a:p>
          <a:p>
            <a:pPr algn="just">
              <a:lnSpc>
                <a:spcPts val="3240"/>
              </a:lnSpc>
              <a:spcBef>
                <a:spcPct val="0"/>
              </a:spcBef>
            </a:pP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7" id="7"/>
          <p:cNvSpPr txBox="true"/>
          <p:nvPr/>
        </p:nvSpPr>
        <p:spPr>
          <a:xfrm rot="0">
            <a:off x="9610875" y="5122290"/>
            <a:ext cx="7811779" cy="4608196"/>
          </a:xfrm>
          <a:prstGeom prst="rect">
            <a:avLst/>
          </a:prstGeom>
        </p:spPr>
        <p:txBody>
          <a:bodyPr anchor="t" rtlCol="false" tIns="0" lIns="0" bIns="0" rIns="0">
            <a:spAutoFit/>
          </a:bodyPr>
          <a:lstStyle/>
          <a:p>
            <a:pPr algn="l">
              <a:lnSpc>
                <a:spcPts val="5219"/>
              </a:lnSpc>
            </a:pPr>
            <a:r>
              <a:rPr lang="en-US" b="true" sz="2899">
                <a:solidFill>
                  <a:srgbClr val="000000"/>
                </a:solidFill>
                <a:latin typeface="Times New Roman MT Bold"/>
                <a:ea typeface="Times New Roman MT Bold"/>
                <a:cs typeface="Times New Roman MT Bold"/>
                <a:sym typeface="Times New Roman MT Bold"/>
              </a:rPr>
              <a:t>Update</a:t>
            </a:r>
            <a:r>
              <a:rPr lang="en-US" b="true" sz="2899">
                <a:solidFill>
                  <a:srgbClr val="000000"/>
                </a:solidFill>
                <a:latin typeface="Times New Roman MT Bold"/>
                <a:ea typeface="Times New Roman MT Bold"/>
                <a:cs typeface="Times New Roman MT Bold"/>
                <a:sym typeface="Times New Roman MT Bold"/>
              </a:rPr>
              <a:t> anomalies</a:t>
            </a:r>
          </a:p>
          <a:p>
            <a:pPr algn="l">
              <a:lnSpc>
                <a:spcPts val="5220"/>
              </a:lnSpc>
            </a:pPr>
            <a:r>
              <a:rPr lang="en-US" sz="2900">
                <a:solidFill>
                  <a:srgbClr val="000000"/>
                </a:solidFill>
                <a:latin typeface="Times New Roman MT"/>
                <a:ea typeface="Times New Roman MT"/>
                <a:cs typeface="Times New Roman MT"/>
                <a:sym typeface="Times New Roman MT"/>
              </a:rPr>
              <a:t>(a) </a:t>
            </a:r>
            <a:r>
              <a:rPr lang="en-US" sz="2900">
                <a:solidFill>
                  <a:srgbClr val="000000"/>
                </a:solidFill>
                <a:latin typeface="Times New Roman MT"/>
                <a:ea typeface="Times New Roman MT"/>
                <a:cs typeface="Times New Roman MT"/>
                <a:sym typeface="Times New Roman MT"/>
              </a:rPr>
              <a:t>Customer details repeated</a:t>
            </a:r>
          </a:p>
          <a:p>
            <a:pPr algn="l">
              <a:lnSpc>
                <a:spcPts val="5220"/>
              </a:lnSpc>
            </a:pPr>
            <a:r>
              <a:rPr lang="en-US" sz="2900">
                <a:solidFill>
                  <a:srgbClr val="000000"/>
                </a:solidFill>
                <a:latin typeface="Times New Roman MT"/>
                <a:ea typeface="Times New Roman MT"/>
                <a:cs typeface="Times New Roman MT"/>
                <a:sym typeface="Times New Roman MT"/>
              </a:rPr>
              <a:t> (b) Vehicle details repeated</a:t>
            </a:r>
          </a:p>
          <a:p>
            <a:pPr algn="l">
              <a:lnSpc>
                <a:spcPts val="5220"/>
              </a:lnSpc>
            </a:pPr>
            <a:r>
              <a:rPr lang="en-US" sz="2900">
                <a:solidFill>
                  <a:srgbClr val="000000"/>
                </a:solidFill>
                <a:latin typeface="Times New Roman MT"/>
                <a:ea typeface="Times New Roman MT"/>
                <a:cs typeface="Times New Roman MT"/>
                <a:sym typeface="Times New Roman MT"/>
              </a:rPr>
              <a:t> (c) Mechanic name repeated</a:t>
            </a:r>
          </a:p>
          <a:p>
            <a:pPr algn="l">
              <a:lnSpc>
                <a:spcPts val="5220"/>
              </a:lnSpc>
            </a:pPr>
            <a:r>
              <a:rPr lang="en-US" sz="2900">
                <a:solidFill>
                  <a:srgbClr val="000000"/>
                </a:solidFill>
                <a:latin typeface="Times New Roman MT"/>
                <a:ea typeface="Times New Roman MT"/>
                <a:cs typeface="Times New Roman MT"/>
                <a:sym typeface="Times New Roman MT"/>
              </a:rPr>
              <a:t> (d) Service Center repeated </a:t>
            </a:r>
          </a:p>
          <a:p>
            <a:pPr algn="l">
              <a:lnSpc>
                <a:spcPts val="5220"/>
              </a:lnSpc>
            </a:pPr>
            <a:r>
              <a:rPr lang="en-US" sz="2900">
                <a:solidFill>
                  <a:srgbClr val="000000"/>
                </a:solidFill>
                <a:latin typeface="Times New Roman MT"/>
                <a:ea typeface="Times New Roman MT"/>
                <a:cs typeface="Times New Roman MT"/>
                <a:sym typeface="Times New Roman MT"/>
              </a:rPr>
              <a:t> (c) Spare part details repeated </a:t>
            </a:r>
          </a:p>
          <a:p>
            <a:pPr algn="l">
              <a:lnSpc>
                <a:spcPts val="5220"/>
              </a:lnSpc>
            </a:pPr>
            <a:r>
              <a:rPr lang="en-US" sz="2900">
                <a:solidFill>
                  <a:srgbClr val="000000"/>
                </a:solidFill>
                <a:latin typeface="Times New Roman MT"/>
                <a:ea typeface="Times New Roman MT"/>
                <a:cs typeface="Times New Roman MT"/>
                <a:sym typeface="Times New Roman MT"/>
              </a:rPr>
              <a:t> (d) Supplier details repeated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TextBox 3" id="3"/>
          <p:cNvSpPr txBox="true"/>
          <p:nvPr/>
        </p:nvSpPr>
        <p:spPr>
          <a:xfrm rot="0">
            <a:off x="599725" y="866775"/>
            <a:ext cx="7232079" cy="979170"/>
          </a:xfrm>
          <a:prstGeom prst="rect">
            <a:avLst/>
          </a:prstGeom>
        </p:spPr>
        <p:txBody>
          <a:bodyPr anchor="t" rtlCol="false" tIns="0" lIns="0" bIns="0" rIns="0">
            <a:spAutoFit/>
          </a:bodyPr>
          <a:lstStyle/>
          <a:p>
            <a:pPr algn="ctr" marL="0" indent="0" lvl="0">
              <a:lnSpc>
                <a:spcPts val="7019"/>
              </a:lnSpc>
              <a:spcBef>
                <a:spcPct val="0"/>
              </a:spcBef>
            </a:pPr>
            <a:r>
              <a:rPr lang="en-US" b="true" sz="53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F</a:t>
            </a:r>
            <a:r>
              <a:rPr lang="en-US" b="true" sz="5399" strike="noStrike" u="none">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uctional Dependency</a:t>
            </a:r>
          </a:p>
        </p:txBody>
      </p:sp>
      <p:sp>
        <p:nvSpPr>
          <p:cNvPr name="TextBox 4" id="4"/>
          <p:cNvSpPr txBox="true"/>
          <p:nvPr/>
        </p:nvSpPr>
        <p:spPr>
          <a:xfrm rot="0">
            <a:off x="1028700" y="2191647"/>
            <a:ext cx="7232079" cy="5227320"/>
          </a:xfrm>
          <a:prstGeom prst="rect">
            <a:avLst/>
          </a:prstGeom>
        </p:spPr>
        <p:txBody>
          <a:bodyPr anchor="t" rtlCol="false" tIns="0" lIns="0" bIns="0" rIns="0">
            <a:spAutoFit/>
          </a:bodyPr>
          <a:lstStyle/>
          <a:p>
            <a:pPr algn="l">
              <a:lnSpc>
                <a:spcPts val="3780"/>
              </a:lnSpc>
            </a:pPr>
            <a:r>
              <a:rPr lang="en-US" sz="2700">
                <a:solidFill>
                  <a:srgbClr val="000000"/>
                </a:solidFill>
                <a:latin typeface="Canva Sans"/>
                <a:ea typeface="Canva Sans"/>
                <a:cs typeface="Canva Sans"/>
                <a:sym typeface="Canva Sans"/>
              </a:rPr>
              <a:t>customer_i</a:t>
            </a:r>
            <a:r>
              <a:rPr lang="en-US" sz="2700">
                <a:solidFill>
                  <a:srgbClr val="000000"/>
                </a:solidFill>
                <a:latin typeface="Canva Sans"/>
                <a:ea typeface="Canva Sans"/>
                <a:cs typeface="Canva Sans"/>
                <a:sym typeface="Canva Sans"/>
              </a:rPr>
              <a:t>d   → name, address</a:t>
            </a:r>
          </a:p>
          <a:p>
            <a:pPr algn="l">
              <a:lnSpc>
                <a:spcPts val="3780"/>
              </a:lnSpc>
            </a:pPr>
            <a:r>
              <a:rPr lang="en-US" sz="2700">
                <a:solidFill>
                  <a:srgbClr val="000000"/>
                </a:solidFill>
                <a:latin typeface="Canva Sans"/>
                <a:ea typeface="Canva Sans"/>
                <a:cs typeface="Canva Sans"/>
                <a:sym typeface="Canva Sans"/>
              </a:rPr>
              <a:t>customer_id, phone_number   → phone_number (composite key)</a:t>
            </a:r>
          </a:p>
          <a:p>
            <a:pPr algn="l">
              <a:lnSpc>
                <a:spcPts val="3780"/>
              </a:lnSpc>
            </a:pPr>
            <a:r>
              <a:rPr lang="en-US" sz="2700">
                <a:solidFill>
                  <a:srgbClr val="000000"/>
                </a:solidFill>
                <a:latin typeface="Canva Sans"/>
                <a:ea typeface="Canva Sans"/>
                <a:cs typeface="Canva Sans"/>
                <a:sym typeface="Canva Sans"/>
              </a:rPr>
              <a:t>vehicle_id   → vehicle_number, model, brand, customer_id</a:t>
            </a:r>
          </a:p>
          <a:p>
            <a:pPr algn="l">
              <a:lnSpc>
                <a:spcPts val="3780"/>
              </a:lnSpc>
            </a:pPr>
            <a:r>
              <a:rPr lang="en-US" sz="2700">
                <a:solidFill>
                  <a:srgbClr val="000000"/>
                </a:solidFill>
                <a:latin typeface="Canva Sans"/>
                <a:ea typeface="Canva Sans"/>
                <a:cs typeface="Canva Sans"/>
                <a:sym typeface="Canva Sans"/>
              </a:rPr>
              <a:t>model   → brand (transitive — causes anomaly)</a:t>
            </a:r>
          </a:p>
          <a:p>
            <a:pPr algn="l">
              <a:lnSpc>
                <a:spcPts val="3780"/>
              </a:lnSpc>
            </a:pPr>
            <a:r>
              <a:rPr lang="en-US" sz="2700">
                <a:solidFill>
                  <a:srgbClr val="000000"/>
                </a:solidFill>
                <a:latin typeface="Canva Sans"/>
                <a:ea typeface="Canva Sans"/>
                <a:cs typeface="Canva Sans"/>
                <a:sym typeface="Canva Sans"/>
              </a:rPr>
              <a:t>mechanic_id → name</a:t>
            </a:r>
          </a:p>
          <a:p>
            <a:pPr algn="l">
              <a:lnSpc>
                <a:spcPts val="3780"/>
              </a:lnSpc>
            </a:pPr>
            <a:r>
              <a:rPr lang="en-US" sz="2700">
                <a:solidFill>
                  <a:srgbClr val="000000"/>
                </a:solidFill>
                <a:latin typeface="Canva Sans"/>
                <a:ea typeface="Canva Sans"/>
                <a:cs typeface="Canva Sans"/>
                <a:sym typeface="Canva Sans"/>
              </a:rPr>
              <a:t>center_id → name</a:t>
            </a:r>
          </a:p>
          <a:p>
            <a:pPr algn="l">
              <a:lnSpc>
                <a:spcPts val="3780"/>
              </a:lnSpc>
            </a:pPr>
            <a:r>
              <a:rPr lang="en-US" sz="2700">
                <a:solidFill>
                  <a:srgbClr val="000000"/>
                </a:solidFill>
                <a:latin typeface="Canva Sans"/>
                <a:ea typeface="Canva Sans"/>
                <a:cs typeface="Canva Sans"/>
                <a:sym typeface="Canva Sans"/>
              </a:rPr>
              <a:t>center_id, mechanic_id → (composite key)</a:t>
            </a:r>
          </a:p>
          <a:p>
            <a:pPr algn="ctr">
              <a:lnSpc>
                <a:spcPts val="3780"/>
              </a:lnSpc>
            </a:pPr>
          </a:p>
        </p:txBody>
      </p:sp>
      <p:sp>
        <p:nvSpPr>
          <p:cNvPr name="TextBox 5" id="5"/>
          <p:cNvSpPr txBox="true"/>
          <p:nvPr/>
        </p:nvSpPr>
        <p:spPr>
          <a:xfrm rot="0">
            <a:off x="9311414" y="2191647"/>
            <a:ext cx="7232079" cy="6179820"/>
          </a:xfrm>
          <a:prstGeom prst="rect">
            <a:avLst/>
          </a:prstGeom>
        </p:spPr>
        <p:txBody>
          <a:bodyPr anchor="t" rtlCol="false" tIns="0" lIns="0" bIns="0" rIns="0">
            <a:spAutoFit/>
          </a:bodyPr>
          <a:lstStyle/>
          <a:p>
            <a:pPr algn="l">
              <a:lnSpc>
                <a:spcPts val="3780"/>
              </a:lnSpc>
            </a:pPr>
            <a:r>
              <a:rPr lang="en-US" sz="2700">
                <a:solidFill>
                  <a:srgbClr val="000000"/>
                </a:solidFill>
                <a:latin typeface="Canva Sans"/>
                <a:ea typeface="Canva Sans"/>
                <a:cs typeface="Canva Sans"/>
                <a:sym typeface="Canva Sans"/>
              </a:rPr>
              <a:t>service_i</a:t>
            </a:r>
            <a:r>
              <a:rPr lang="en-US" sz="2700">
                <a:solidFill>
                  <a:srgbClr val="000000"/>
                </a:solidFill>
                <a:latin typeface="Canva Sans"/>
                <a:ea typeface="Canva Sans"/>
                <a:cs typeface="Canva Sans"/>
                <a:sym typeface="Canva Sans"/>
              </a:rPr>
              <a:t>d → service_date, service_type, labor_cost, total_cost, vehicle_id, mechanic_id</a:t>
            </a:r>
          </a:p>
          <a:p>
            <a:pPr algn="l">
              <a:lnSpc>
                <a:spcPts val="3780"/>
              </a:lnSpc>
            </a:pPr>
            <a:r>
              <a:rPr lang="en-US" sz="2700">
                <a:solidFill>
                  <a:srgbClr val="000000"/>
                </a:solidFill>
                <a:latin typeface="Canva Sans"/>
                <a:ea typeface="Canva Sans"/>
                <a:cs typeface="Canva Sans"/>
                <a:sym typeface="Canva Sans"/>
              </a:rPr>
              <a:t>total_cost = labor_cost + parts_cost (derived — not stored)</a:t>
            </a:r>
          </a:p>
          <a:p>
            <a:pPr algn="l">
              <a:lnSpc>
                <a:spcPts val="3780"/>
              </a:lnSpc>
            </a:pPr>
            <a:r>
              <a:rPr lang="en-US" sz="2700">
                <a:solidFill>
                  <a:srgbClr val="000000"/>
                </a:solidFill>
                <a:latin typeface="Canva Sans"/>
                <a:ea typeface="Canva Sans"/>
                <a:cs typeface="Canva Sans"/>
                <a:sym typeface="Canva Sans"/>
              </a:rPr>
              <a:t>service_id, record_id → description, time_taken</a:t>
            </a:r>
          </a:p>
          <a:p>
            <a:pPr algn="l">
              <a:lnSpc>
                <a:spcPts val="3780"/>
              </a:lnSpc>
            </a:pPr>
            <a:r>
              <a:rPr lang="en-US" sz="2700">
                <a:solidFill>
                  <a:srgbClr val="000000"/>
                </a:solidFill>
                <a:latin typeface="Canva Sans"/>
                <a:ea typeface="Canva Sans"/>
                <a:cs typeface="Canva Sans"/>
                <a:sym typeface="Canva Sans"/>
              </a:rPr>
              <a:t>part_id → part_name, price, supplier_id</a:t>
            </a:r>
          </a:p>
          <a:p>
            <a:pPr algn="l">
              <a:lnSpc>
                <a:spcPts val="3780"/>
              </a:lnSpc>
            </a:pPr>
            <a:r>
              <a:rPr lang="en-US" sz="2700">
                <a:solidFill>
                  <a:srgbClr val="000000"/>
                </a:solidFill>
                <a:latin typeface="Canva Sans"/>
                <a:ea typeface="Canva Sans"/>
                <a:cs typeface="Canva Sans"/>
                <a:sym typeface="Canva Sans"/>
              </a:rPr>
              <a:t>supplier_id → name</a:t>
            </a:r>
          </a:p>
          <a:p>
            <a:pPr algn="l">
              <a:lnSpc>
                <a:spcPts val="3780"/>
              </a:lnSpc>
            </a:pPr>
            <a:r>
              <a:rPr lang="en-US" sz="2700">
                <a:solidFill>
                  <a:srgbClr val="000000"/>
                </a:solidFill>
                <a:latin typeface="Canva Sans"/>
                <a:ea typeface="Canva Sans"/>
                <a:cs typeface="Canva Sans"/>
                <a:sym typeface="Canva Sans"/>
              </a:rPr>
              <a:t>service_id, part_id → quantity_used</a:t>
            </a:r>
          </a:p>
          <a:p>
            <a:pPr algn="l">
              <a:lnSpc>
                <a:spcPts val="3780"/>
              </a:lnSpc>
            </a:pPr>
            <a:r>
              <a:rPr lang="en-US" sz="2700">
                <a:solidFill>
                  <a:srgbClr val="000000"/>
                </a:solidFill>
                <a:latin typeface="Canva Sans"/>
                <a:ea typeface="Canva Sans"/>
                <a:cs typeface="Canva Sans"/>
                <a:sym typeface="Canva Sans"/>
              </a:rPr>
              <a:t>bill_id → service_id</a:t>
            </a:r>
          </a:p>
          <a:p>
            <a:pPr algn="l">
              <a:lnSpc>
                <a:spcPts val="3780"/>
              </a:lnSpc>
            </a:pPr>
            <a:r>
              <a:rPr lang="en-US" sz="2700">
                <a:solidFill>
                  <a:srgbClr val="000000"/>
                </a:solidFill>
                <a:latin typeface="Canva Sans"/>
                <a:ea typeface="Canva Sans"/>
                <a:cs typeface="Canva Sans"/>
                <a:sym typeface="Canva Sans"/>
              </a:rPr>
              <a:t>payment_id → bill_id</a:t>
            </a:r>
          </a:p>
          <a:p>
            <a:pPr algn="ctr">
              <a:lnSpc>
                <a:spcPts val="3780"/>
              </a:lnSpc>
            </a:pP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24318" y="-7273107"/>
            <a:ext cx="10887150" cy="15420090"/>
          </a:xfrm>
          <a:custGeom>
            <a:avLst/>
            <a:gdLst/>
            <a:ahLst/>
            <a:cxnLst/>
            <a:rect r="r" b="b" t="t" l="l"/>
            <a:pathLst>
              <a:path h="15420090" w="10887150">
                <a:moveTo>
                  <a:pt x="0" y="0"/>
                </a:moveTo>
                <a:lnTo>
                  <a:pt x="10887150" y="0"/>
                </a:lnTo>
                <a:lnTo>
                  <a:pt x="10887150" y="15420089"/>
                </a:lnTo>
                <a:lnTo>
                  <a:pt x="0" y="15420089"/>
                </a:lnTo>
                <a:lnTo>
                  <a:pt x="0" y="0"/>
                </a:lnTo>
                <a:close/>
              </a:path>
            </a:pathLst>
          </a:custGeom>
          <a:blipFill>
            <a:blip r:embed="rId2"/>
            <a:stretch>
              <a:fillRect l="0" t="0" r="0" b="0"/>
            </a:stretch>
          </a:blipFill>
        </p:spPr>
      </p:sp>
      <p:sp>
        <p:nvSpPr>
          <p:cNvPr name="TextBox 3" id="3"/>
          <p:cNvSpPr txBox="true"/>
          <p:nvPr/>
        </p:nvSpPr>
        <p:spPr>
          <a:xfrm rot="0">
            <a:off x="1028700" y="866775"/>
            <a:ext cx="8428252" cy="979170"/>
          </a:xfrm>
          <a:prstGeom prst="rect">
            <a:avLst/>
          </a:prstGeom>
        </p:spPr>
        <p:txBody>
          <a:bodyPr anchor="t" rtlCol="false" tIns="0" lIns="0" bIns="0" rIns="0">
            <a:spAutoFit/>
          </a:bodyPr>
          <a:lstStyle/>
          <a:p>
            <a:pPr algn="ctr" marL="0" indent="0" lvl="0">
              <a:lnSpc>
                <a:spcPts val="7019"/>
              </a:lnSpc>
              <a:spcBef>
                <a:spcPct val="0"/>
              </a:spcBef>
            </a:pPr>
            <a:r>
              <a:rPr lang="en-US" b="true" sz="53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First Normal Form (1NF)</a:t>
            </a:r>
          </a:p>
        </p:txBody>
      </p:sp>
      <p:sp>
        <p:nvSpPr>
          <p:cNvPr name="TextBox 4" id="4"/>
          <p:cNvSpPr txBox="true"/>
          <p:nvPr/>
        </p:nvSpPr>
        <p:spPr>
          <a:xfrm rot="0">
            <a:off x="1028700" y="2168843"/>
            <a:ext cx="12998289" cy="5306695"/>
          </a:xfrm>
          <a:prstGeom prst="rect">
            <a:avLst/>
          </a:prstGeom>
        </p:spPr>
        <p:txBody>
          <a:bodyPr anchor="t" rtlCol="false" tIns="0" lIns="0" bIns="0" rIns="0">
            <a:spAutoFit/>
          </a:bodyPr>
          <a:lstStyle/>
          <a:p>
            <a:pPr algn="just">
              <a:lnSpc>
                <a:spcPts val="5179"/>
              </a:lnSpc>
            </a:pPr>
            <a:r>
              <a:rPr lang="en-US" sz="3699">
                <a:solidFill>
                  <a:srgbClr val="000000"/>
                </a:solidFill>
                <a:latin typeface="Times New Roman MT"/>
                <a:ea typeface="Times New Roman MT"/>
                <a:cs typeface="Times New Roman MT"/>
                <a:sym typeface="Times New Roman MT"/>
              </a:rPr>
              <a:t>After converting to 1NF:</a:t>
            </a:r>
          </a:p>
          <a:p>
            <a:pPr algn="just">
              <a:lnSpc>
                <a:spcPts val="5179"/>
              </a:lnSpc>
            </a:pPr>
            <a:r>
              <a:rPr lang="en-US" sz="3699">
                <a:solidFill>
                  <a:srgbClr val="000000"/>
                </a:solidFill>
                <a:latin typeface="Times New Roman MT"/>
                <a:ea typeface="Times New Roman MT"/>
                <a:cs typeface="Times New Roman MT"/>
                <a:sym typeface="Times New Roman MT"/>
              </a:rPr>
              <a:t>- Multi-valued attributes (phone_number, parts) are separated — basic insertion anomalies reduced.</a:t>
            </a:r>
          </a:p>
          <a:p>
            <a:pPr algn="just">
              <a:lnSpc>
                <a:spcPts val="5179"/>
              </a:lnSpc>
            </a:pPr>
            <a:r>
              <a:rPr lang="en-US" sz="3699">
                <a:solidFill>
                  <a:srgbClr val="000000"/>
                </a:solidFill>
                <a:latin typeface="Times New Roman MT"/>
                <a:ea typeface="Times New Roman MT"/>
                <a:cs typeface="Times New Roman MT"/>
                <a:sym typeface="Times New Roman MT"/>
              </a:rPr>
              <a:t>- However, partial dependencies may still exist in tables with composite keys.</a:t>
            </a:r>
          </a:p>
          <a:p>
            <a:pPr algn="just">
              <a:lnSpc>
                <a:spcPts val="5179"/>
              </a:lnSpc>
            </a:pPr>
            <a:r>
              <a:rPr lang="en-US" sz="3699">
                <a:solidFill>
                  <a:srgbClr val="000000"/>
                </a:solidFill>
                <a:latin typeface="Times New Roman MT"/>
                <a:ea typeface="Times New Roman MT"/>
                <a:cs typeface="Times New Roman MT"/>
                <a:sym typeface="Times New Roman MT"/>
              </a:rPr>
              <a:t>- Transitive dependencies still exist (model → brand in VEHICLE).</a:t>
            </a:r>
          </a:p>
          <a:p>
            <a:pPr algn="just">
              <a:lnSpc>
                <a:spcPts val="5179"/>
              </a:lnSpc>
            </a:pPr>
            <a:r>
              <a:rPr lang="en-US" sz="3699">
                <a:solidFill>
                  <a:srgbClr val="000000"/>
                </a:solidFill>
                <a:latin typeface="Times New Roman MT"/>
                <a:ea typeface="Times New Roman MT"/>
                <a:cs typeface="Times New Roman MT"/>
                <a:sym typeface="Times New Roman MT"/>
              </a:rPr>
              <a:t>Conclusion: Anomalies not fully removed. Proceed to 2NF.</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24318" y="-7273107"/>
            <a:ext cx="10887150" cy="15420090"/>
          </a:xfrm>
          <a:custGeom>
            <a:avLst/>
            <a:gdLst/>
            <a:ahLst/>
            <a:cxnLst/>
            <a:rect r="r" b="b" t="t" l="l"/>
            <a:pathLst>
              <a:path h="15420090" w="10887150">
                <a:moveTo>
                  <a:pt x="0" y="0"/>
                </a:moveTo>
                <a:lnTo>
                  <a:pt x="10887150" y="0"/>
                </a:lnTo>
                <a:lnTo>
                  <a:pt x="10887150" y="15420089"/>
                </a:lnTo>
                <a:lnTo>
                  <a:pt x="0" y="15420089"/>
                </a:lnTo>
                <a:lnTo>
                  <a:pt x="0" y="0"/>
                </a:lnTo>
                <a:close/>
              </a:path>
            </a:pathLst>
          </a:custGeom>
          <a:blipFill>
            <a:blip r:embed="rId2"/>
            <a:stretch>
              <a:fillRect l="0" t="0" r="0" b="0"/>
            </a:stretch>
          </a:blipFill>
        </p:spPr>
      </p:sp>
      <p:sp>
        <p:nvSpPr>
          <p:cNvPr name="TextBox 3" id="3"/>
          <p:cNvSpPr txBox="true"/>
          <p:nvPr/>
        </p:nvSpPr>
        <p:spPr>
          <a:xfrm rot="0">
            <a:off x="1028700" y="866775"/>
            <a:ext cx="8428252" cy="979170"/>
          </a:xfrm>
          <a:prstGeom prst="rect">
            <a:avLst/>
          </a:prstGeom>
        </p:spPr>
        <p:txBody>
          <a:bodyPr anchor="t" rtlCol="false" tIns="0" lIns="0" bIns="0" rIns="0">
            <a:spAutoFit/>
          </a:bodyPr>
          <a:lstStyle/>
          <a:p>
            <a:pPr algn="ctr" marL="0" indent="0" lvl="0">
              <a:lnSpc>
                <a:spcPts val="7019"/>
              </a:lnSpc>
              <a:spcBef>
                <a:spcPct val="0"/>
              </a:spcBef>
            </a:pPr>
            <a:r>
              <a:rPr lang="en-US" b="true" sz="53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Second Normal Form (2NF)</a:t>
            </a:r>
          </a:p>
        </p:txBody>
      </p:sp>
      <p:sp>
        <p:nvSpPr>
          <p:cNvPr name="TextBox 4" id="4"/>
          <p:cNvSpPr txBox="true"/>
          <p:nvPr/>
        </p:nvSpPr>
        <p:spPr>
          <a:xfrm rot="0">
            <a:off x="1028700" y="2028190"/>
            <a:ext cx="7543737" cy="6727190"/>
          </a:xfrm>
          <a:prstGeom prst="rect">
            <a:avLst/>
          </a:prstGeom>
        </p:spPr>
        <p:txBody>
          <a:bodyPr anchor="t" rtlCol="false" tIns="0" lIns="0" bIns="0" rIns="0">
            <a:spAutoFit/>
          </a:bodyPr>
          <a:lstStyle/>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After checking 2NF:</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No partial dependencies found in any composite-key table.</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CUSTOMER_PHONE, EMPLOYS, SERVICE_RECORD, SERVICE_PARTS are all in 2NF.</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Single-PK tables are automatically in 2NF.</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However, transitive dependency remains: model → brand (in VEHICLE) and total_cost is derived.</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Conclusion: Partial dependency anomalies removed. Transitive dependency anomalies remain. Proceed to 3NF.</a:t>
            </a:r>
          </a:p>
        </p:txBody>
      </p:sp>
      <p:sp>
        <p:nvSpPr>
          <p:cNvPr name="TextBox 5" id="5"/>
          <p:cNvSpPr txBox="true"/>
          <p:nvPr/>
        </p:nvSpPr>
        <p:spPr>
          <a:xfrm rot="0">
            <a:off x="9456952" y="2018665"/>
            <a:ext cx="7998285" cy="6448425"/>
          </a:xfrm>
          <a:prstGeom prst="rect">
            <a:avLst/>
          </a:prstGeom>
        </p:spPr>
        <p:txBody>
          <a:bodyPr anchor="t" rtlCol="false" tIns="0" lIns="0" bIns="0" rIns="0">
            <a:spAutoFit/>
          </a:bodyPr>
          <a:lstStyle/>
          <a:p>
            <a:pPr algn="just">
              <a:lnSpc>
                <a:spcPts val="4200"/>
              </a:lnSpc>
            </a:pPr>
            <a:r>
              <a:rPr lang="en-US" b="true" sz="3000">
                <a:solidFill>
                  <a:srgbClr val="000000"/>
                </a:solidFill>
                <a:latin typeface="Times New Roman MT Bold"/>
                <a:ea typeface="Times New Roman MT Bold"/>
                <a:cs typeface="Times New Roman MT Bold"/>
                <a:sym typeface="Times New Roman MT Bold"/>
              </a:rPr>
              <a:t>composite keys:</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CUSTOMER_PHONE (customer_id, phone_number) </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EMPLOYS (center_id, mechanic_id) </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SERVICE_RECORD (service_id, record_id) </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SERVICE_PARTS (service_id, part_id)</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Customer_phone, employs, service_records,service_parts: already in 2nf</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CUSTOMER, VEHICLE, CAR, BIKE, MECHANIC, SERVICE_CENTER, SERVICE, SPAREPARTS, SUPPLIER, BILL, PAYMENT: single PK ---2nf</a:t>
            </a:r>
          </a:p>
        </p:txBody>
      </p:sp>
      <p:sp>
        <p:nvSpPr>
          <p:cNvPr name="AutoShape 6" id="6"/>
          <p:cNvSpPr/>
          <p:nvPr/>
        </p:nvSpPr>
        <p:spPr>
          <a:xfrm flipV="true">
            <a:off x="9124950" y="2142490"/>
            <a:ext cx="0" cy="649224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24318" y="-7273107"/>
            <a:ext cx="10887150" cy="15420090"/>
          </a:xfrm>
          <a:custGeom>
            <a:avLst/>
            <a:gdLst/>
            <a:ahLst/>
            <a:cxnLst/>
            <a:rect r="r" b="b" t="t" l="l"/>
            <a:pathLst>
              <a:path h="15420090" w="10887150">
                <a:moveTo>
                  <a:pt x="0" y="0"/>
                </a:moveTo>
                <a:lnTo>
                  <a:pt x="10887150" y="0"/>
                </a:lnTo>
                <a:lnTo>
                  <a:pt x="10887150" y="15420089"/>
                </a:lnTo>
                <a:lnTo>
                  <a:pt x="0" y="15420089"/>
                </a:lnTo>
                <a:lnTo>
                  <a:pt x="0" y="0"/>
                </a:lnTo>
                <a:close/>
              </a:path>
            </a:pathLst>
          </a:custGeom>
          <a:blipFill>
            <a:blip r:embed="rId2"/>
            <a:stretch>
              <a:fillRect l="0" t="0" r="0" b="0"/>
            </a:stretch>
          </a:blipFill>
        </p:spPr>
      </p:sp>
      <p:sp>
        <p:nvSpPr>
          <p:cNvPr name="TextBox 3" id="3"/>
          <p:cNvSpPr txBox="true"/>
          <p:nvPr/>
        </p:nvSpPr>
        <p:spPr>
          <a:xfrm rot="0">
            <a:off x="-143224" y="284537"/>
            <a:ext cx="9887584" cy="2658110"/>
          </a:xfrm>
          <a:prstGeom prst="rect">
            <a:avLst/>
          </a:prstGeom>
        </p:spPr>
        <p:txBody>
          <a:bodyPr anchor="t" rtlCol="false" tIns="0" lIns="0" bIns="0" rIns="0">
            <a:spAutoFit/>
          </a:bodyPr>
          <a:lstStyle/>
          <a:p>
            <a:pPr algn="ctr">
              <a:lnSpc>
                <a:spcPts val="6759"/>
              </a:lnSpc>
            </a:pPr>
            <a:r>
              <a:rPr lang="en-US" b="true" sz="51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Third Normal Form(3NF)</a:t>
            </a:r>
          </a:p>
          <a:p>
            <a:pPr algn="ctr">
              <a:lnSpc>
                <a:spcPts val="6759"/>
              </a:lnSpc>
            </a:pPr>
            <a:r>
              <a:rPr lang="en-US" b="true" sz="51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[transitive dependency]</a:t>
            </a:r>
          </a:p>
          <a:p>
            <a:pPr algn="ctr" marL="0" indent="0" lvl="0">
              <a:lnSpc>
                <a:spcPts val="6759"/>
              </a:lnSpc>
              <a:spcBef>
                <a:spcPct val="0"/>
              </a:spcBef>
            </a:pPr>
          </a:p>
        </p:txBody>
      </p:sp>
      <p:sp>
        <p:nvSpPr>
          <p:cNvPr name="TextBox 4" id="4"/>
          <p:cNvSpPr txBox="true"/>
          <p:nvPr/>
        </p:nvSpPr>
        <p:spPr>
          <a:xfrm rot="0">
            <a:off x="1028700" y="2531110"/>
            <a:ext cx="7543737" cy="6727190"/>
          </a:xfrm>
          <a:prstGeom prst="rect">
            <a:avLst/>
          </a:prstGeom>
        </p:spPr>
        <p:txBody>
          <a:bodyPr anchor="t" rtlCol="false" tIns="0" lIns="0" bIns="0" rIns="0">
            <a:spAutoFit/>
          </a:bodyPr>
          <a:lstStyle/>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After checking 2NF:</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No partial dependencies found in any composite-key table.</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CUSTOMER_PHONE, EMPLOYS, SERVICE_RECORD, SERVICE_PARTS are all in 2NF.</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Single-PK tables are automatically in 2NF.</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However, transitive dependency remains: model → brand (in VEHICLE) and total_cost is derived.</a:t>
            </a:r>
          </a:p>
          <a:p>
            <a:pPr algn="just" marL="626112" indent="-313056" lvl="1">
              <a:lnSpc>
                <a:spcPts val="4060"/>
              </a:lnSpc>
              <a:buFont typeface="Arial"/>
              <a:buChar char="•"/>
            </a:pPr>
            <a:r>
              <a:rPr lang="en-US" sz="2900">
                <a:solidFill>
                  <a:srgbClr val="000000"/>
                </a:solidFill>
                <a:latin typeface="Times New Roman MT"/>
                <a:ea typeface="Times New Roman MT"/>
                <a:cs typeface="Times New Roman MT"/>
                <a:sym typeface="Times New Roman MT"/>
              </a:rPr>
              <a:t>Conclusion: Partial dependency anomalies removed. Transitive dependency anomalies remain. Proceed to 3NF.</a:t>
            </a:r>
          </a:p>
        </p:txBody>
      </p:sp>
      <p:sp>
        <p:nvSpPr>
          <p:cNvPr name="TextBox 5" id="5"/>
          <p:cNvSpPr txBox="true"/>
          <p:nvPr/>
        </p:nvSpPr>
        <p:spPr>
          <a:xfrm rot="0">
            <a:off x="9669608" y="2521585"/>
            <a:ext cx="7998285" cy="6448425"/>
          </a:xfrm>
          <a:prstGeom prst="rect">
            <a:avLst/>
          </a:prstGeom>
        </p:spPr>
        <p:txBody>
          <a:bodyPr anchor="t" rtlCol="false" tIns="0" lIns="0" bIns="0" rIns="0">
            <a:spAutoFit/>
          </a:bodyPr>
          <a:lstStyle/>
          <a:p>
            <a:pPr algn="just">
              <a:lnSpc>
                <a:spcPts val="4200"/>
              </a:lnSpc>
            </a:pPr>
            <a:r>
              <a:rPr lang="en-US" b="true" sz="3000">
                <a:solidFill>
                  <a:srgbClr val="000000"/>
                </a:solidFill>
                <a:latin typeface="Times New Roman MT Bold"/>
                <a:ea typeface="Times New Roman MT Bold"/>
                <a:cs typeface="Times New Roman MT Bold"/>
                <a:sym typeface="Times New Roman MT Bold"/>
              </a:rPr>
              <a:t>composite keys:</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CUSTOMER_PHONE (customer_id, phone_number) </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EMPLOYS (center_id, mechanic_id) </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SERVICE_RECORD (service_id, record_id) </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SERVICE_PARTS (service_id, part_id)</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Customer_phone, employs, service_records,service_parts: already in 2nf</a:t>
            </a:r>
          </a:p>
          <a:p>
            <a:pPr algn="just" marL="647702" indent="-323851" lvl="1">
              <a:lnSpc>
                <a:spcPts val="4200"/>
              </a:lnSpc>
              <a:buFont typeface="Arial"/>
              <a:buChar char="•"/>
            </a:pPr>
            <a:r>
              <a:rPr lang="en-US" sz="3000">
                <a:solidFill>
                  <a:srgbClr val="000000"/>
                </a:solidFill>
                <a:latin typeface="Times New Roman MT"/>
                <a:ea typeface="Times New Roman MT"/>
                <a:cs typeface="Times New Roman MT"/>
                <a:sym typeface="Times New Roman MT"/>
              </a:rPr>
              <a:t>CUSTOMER, VEHICLE, CAR, BIKE, MECHANIC, SERVICE_CENTER, SERVICE, SPAREPARTS, SUPPLIER, BILL, PAYMENT: single PK ---2nf</a:t>
            </a:r>
          </a:p>
        </p:txBody>
      </p:sp>
      <p:sp>
        <p:nvSpPr>
          <p:cNvPr name="AutoShape 6" id="6"/>
          <p:cNvSpPr/>
          <p:nvPr/>
        </p:nvSpPr>
        <p:spPr>
          <a:xfrm flipV="true">
            <a:off x="9163050" y="2477770"/>
            <a:ext cx="0" cy="649224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24318" y="-7273107"/>
            <a:ext cx="10887150" cy="15420090"/>
          </a:xfrm>
          <a:custGeom>
            <a:avLst/>
            <a:gdLst/>
            <a:ahLst/>
            <a:cxnLst/>
            <a:rect r="r" b="b" t="t" l="l"/>
            <a:pathLst>
              <a:path h="15420090" w="10887150">
                <a:moveTo>
                  <a:pt x="0" y="0"/>
                </a:moveTo>
                <a:lnTo>
                  <a:pt x="10887150" y="0"/>
                </a:lnTo>
                <a:lnTo>
                  <a:pt x="10887150" y="15420089"/>
                </a:lnTo>
                <a:lnTo>
                  <a:pt x="0" y="15420089"/>
                </a:lnTo>
                <a:lnTo>
                  <a:pt x="0" y="0"/>
                </a:lnTo>
                <a:close/>
              </a:path>
            </a:pathLst>
          </a:custGeom>
          <a:blipFill>
            <a:blip r:embed="rId2"/>
            <a:stretch>
              <a:fillRect l="0" t="0" r="0" b="0"/>
            </a:stretch>
          </a:blipFill>
        </p:spPr>
      </p:sp>
      <p:sp>
        <p:nvSpPr>
          <p:cNvPr name="TextBox 3" id="3"/>
          <p:cNvSpPr txBox="true"/>
          <p:nvPr/>
        </p:nvSpPr>
        <p:spPr>
          <a:xfrm rot="0">
            <a:off x="1028700" y="499849"/>
            <a:ext cx="9887584" cy="2658110"/>
          </a:xfrm>
          <a:prstGeom prst="rect">
            <a:avLst/>
          </a:prstGeom>
        </p:spPr>
        <p:txBody>
          <a:bodyPr anchor="t" rtlCol="false" tIns="0" lIns="0" bIns="0" rIns="0">
            <a:spAutoFit/>
          </a:bodyPr>
          <a:lstStyle/>
          <a:p>
            <a:pPr algn="ctr">
              <a:lnSpc>
                <a:spcPts val="6759"/>
              </a:lnSpc>
            </a:pPr>
            <a:r>
              <a:rPr lang="en-US" b="true" sz="519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Times New Roman MT Bold"/>
                <a:ea typeface="Times New Roman MT Bold"/>
                <a:cs typeface="Times New Roman MT Bold"/>
                <a:sym typeface="Times New Roman MT Bold"/>
              </a:rPr>
              <a:t>FINAL NORMALISED TABLES (3NF)</a:t>
            </a:r>
          </a:p>
          <a:p>
            <a:pPr algn="ctr" marL="0" indent="0" lvl="0">
              <a:lnSpc>
                <a:spcPts val="6759"/>
              </a:lnSpc>
              <a:spcBef>
                <a:spcPct val="0"/>
              </a:spcBef>
            </a:pPr>
          </a:p>
        </p:txBody>
      </p:sp>
      <p:sp>
        <p:nvSpPr>
          <p:cNvPr name="TextBox 4" id="4"/>
          <p:cNvSpPr txBox="true"/>
          <p:nvPr/>
        </p:nvSpPr>
        <p:spPr>
          <a:xfrm rot="0">
            <a:off x="1114488" y="2372995"/>
            <a:ext cx="7543737" cy="6112509"/>
          </a:xfrm>
          <a:prstGeom prst="rect">
            <a:avLst/>
          </a:prstGeom>
        </p:spPr>
        <p:txBody>
          <a:bodyPr anchor="t" rtlCol="false" tIns="0" lIns="0" bIns="0" rIns="0">
            <a:spAutoFit/>
          </a:bodyPr>
          <a:lstStyle/>
          <a:p>
            <a:pPr algn="just">
              <a:lnSpc>
                <a:spcPts val="3780"/>
              </a:lnSpc>
            </a:pPr>
            <a:r>
              <a:rPr lang="en-US" sz="2700">
                <a:solidFill>
                  <a:srgbClr val="000000"/>
                </a:solidFill>
                <a:latin typeface="Times New Roman MT"/>
                <a:ea typeface="Times New Roman MT"/>
                <a:cs typeface="Times New Roman MT"/>
                <a:sym typeface="Times New Roman MT"/>
              </a:rPr>
              <a:t>1. CUSTOMER</a:t>
            </a:r>
            <a:r>
              <a:rPr lang="en-US" sz="2700">
                <a:solidFill>
                  <a:srgbClr val="000000"/>
                </a:solidFill>
                <a:latin typeface="Times New Roman MT"/>
                <a:ea typeface="Times New Roman MT"/>
                <a:cs typeface="Times New Roman MT"/>
                <a:sym typeface="Times New Roman MT"/>
              </a:rPr>
              <a:t> (customer_id PK, name, address)</a:t>
            </a:r>
          </a:p>
          <a:p>
            <a:pPr algn="just">
              <a:lnSpc>
                <a:spcPts val="3780"/>
              </a:lnSpc>
            </a:pPr>
            <a:r>
              <a:rPr lang="en-US" sz="2700">
                <a:solidFill>
                  <a:srgbClr val="000000"/>
                </a:solidFill>
                <a:latin typeface="Times New Roman MT"/>
                <a:ea typeface="Times New Roman MT"/>
                <a:cs typeface="Times New Roman MT"/>
                <a:sym typeface="Times New Roman MT"/>
              </a:rPr>
              <a:t>2. CUSTOMER_PHONE (customer_id FK, phone_number,PK(customer_id, phone_number))</a:t>
            </a:r>
          </a:p>
          <a:p>
            <a:pPr algn="just">
              <a:lnSpc>
                <a:spcPts val="3780"/>
              </a:lnSpc>
            </a:pPr>
            <a:r>
              <a:rPr lang="en-US" sz="2700">
                <a:solidFill>
                  <a:srgbClr val="000000"/>
                </a:solidFill>
                <a:latin typeface="Times New Roman MT"/>
                <a:ea typeface="Times New Roman MT"/>
                <a:cs typeface="Times New Roman MT"/>
                <a:sym typeface="Times New Roman MT"/>
              </a:rPr>
              <a:t>3. BRAND (brand_id PK, brand_name)</a:t>
            </a:r>
          </a:p>
          <a:p>
            <a:pPr algn="just">
              <a:lnSpc>
                <a:spcPts val="3780"/>
              </a:lnSpc>
            </a:pPr>
            <a:r>
              <a:rPr lang="en-US" sz="2700">
                <a:solidFill>
                  <a:srgbClr val="000000"/>
                </a:solidFill>
                <a:latin typeface="Times New Roman MT"/>
                <a:ea typeface="Times New Roman MT"/>
                <a:cs typeface="Times New Roman MT"/>
                <a:sym typeface="Times New Roman MT"/>
              </a:rPr>
              <a:t>4. MODEL (model_id PK, model_name, brand_id FK)</a:t>
            </a:r>
          </a:p>
          <a:p>
            <a:pPr algn="just">
              <a:lnSpc>
                <a:spcPts val="3780"/>
              </a:lnSpc>
            </a:pPr>
            <a:r>
              <a:rPr lang="en-US" sz="2700">
                <a:solidFill>
                  <a:srgbClr val="000000"/>
                </a:solidFill>
                <a:latin typeface="Times New Roman MT"/>
                <a:ea typeface="Times New Roman MT"/>
                <a:cs typeface="Times New Roman MT"/>
                <a:sym typeface="Times New Roman MT"/>
              </a:rPr>
              <a:t>5. VEHICLE (vehicle_id PK, vehicle_number, model_id FK, customer_id FK)</a:t>
            </a:r>
          </a:p>
          <a:p>
            <a:pPr algn="just">
              <a:lnSpc>
                <a:spcPts val="3780"/>
              </a:lnSpc>
            </a:pPr>
            <a:r>
              <a:rPr lang="en-US" sz="2700">
                <a:solidFill>
                  <a:srgbClr val="000000"/>
                </a:solidFill>
                <a:latin typeface="Times New Roman MT"/>
                <a:ea typeface="Times New Roman MT"/>
                <a:cs typeface="Times New Roman MT"/>
                <a:sym typeface="Times New Roman MT"/>
              </a:rPr>
              <a:t>6. CAR (vehicle_id PK FK, seat_capacity, fuel_type)</a:t>
            </a:r>
          </a:p>
          <a:p>
            <a:pPr algn="just">
              <a:lnSpc>
                <a:spcPts val="3780"/>
              </a:lnSpc>
            </a:pPr>
            <a:r>
              <a:rPr lang="en-US" sz="2700">
                <a:solidFill>
                  <a:srgbClr val="000000"/>
                </a:solidFill>
                <a:latin typeface="Times New Roman MT"/>
                <a:ea typeface="Times New Roman MT"/>
                <a:cs typeface="Times New Roman MT"/>
                <a:sym typeface="Times New Roman MT"/>
              </a:rPr>
              <a:t>7. BIKE (vehicle_id PK FK, engine_cc, bike_type)</a:t>
            </a:r>
          </a:p>
          <a:p>
            <a:pPr algn="just">
              <a:lnSpc>
                <a:spcPts val="3780"/>
              </a:lnSpc>
            </a:pPr>
            <a:r>
              <a:rPr lang="en-US" sz="2700">
                <a:solidFill>
                  <a:srgbClr val="000000"/>
                </a:solidFill>
                <a:latin typeface="Times New Roman MT"/>
                <a:ea typeface="Times New Roman MT"/>
                <a:cs typeface="Times New Roman MT"/>
                <a:sym typeface="Times New Roman MT"/>
              </a:rPr>
              <a:t>8. MECHANIC (mechanic_id PK, name)</a:t>
            </a:r>
          </a:p>
          <a:p>
            <a:pPr algn="l">
              <a:lnSpc>
                <a:spcPts val="2800"/>
              </a:lnSpc>
            </a:pPr>
          </a:p>
        </p:txBody>
      </p:sp>
      <p:sp>
        <p:nvSpPr>
          <p:cNvPr name="TextBox 5" id="5"/>
          <p:cNvSpPr txBox="true"/>
          <p:nvPr/>
        </p:nvSpPr>
        <p:spPr>
          <a:xfrm rot="0">
            <a:off x="9669608" y="2306637"/>
            <a:ext cx="7998285" cy="7179945"/>
          </a:xfrm>
          <a:prstGeom prst="rect">
            <a:avLst/>
          </a:prstGeom>
        </p:spPr>
        <p:txBody>
          <a:bodyPr anchor="t" rtlCol="false" tIns="0" lIns="0" bIns="0" rIns="0">
            <a:spAutoFit/>
          </a:bodyPr>
          <a:lstStyle/>
          <a:p>
            <a:pPr algn="just">
              <a:lnSpc>
                <a:spcPts val="3780"/>
              </a:lnSpc>
            </a:pPr>
            <a:r>
              <a:rPr lang="en-US" sz="2700">
                <a:solidFill>
                  <a:srgbClr val="000000"/>
                </a:solidFill>
                <a:latin typeface="Times New Roman MT"/>
                <a:ea typeface="Times New Roman MT"/>
                <a:cs typeface="Times New Roman MT"/>
                <a:sym typeface="Times New Roman MT"/>
              </a:rPr>
              <a:t>9. </a:t>
            </a:r>
            <a:r>
              <a:rPr lang="en-US" sz="2700">
                <a:solidFill>
                  <a:srgbClr val="000000"/>
                </a:solidFill>
                <a:latin typeface="Times New Roman MT"/>
                <a:ea typeface="Times New Roman MT"/>
                <a:cs typeface="Times New Roman MT"/>
                <a:sym typeface="Times New Roman MT"/>
              </a:rPr>
              <a:t>SERVICE_CENTER (center_id PK, name)</a:t>
            </a:r>
          </a:p>
          <a:p>
            <a:pPr algn="just">
              <a:lnSpc>
                <a:spcPts val="3780"/>
              </a:lnSpc>
            </a:pPr>
            <a:r>
              <a:rPr lang="en-US" sz="2700">
                <a:solidFill>
                  <a:srgbClr val="000000"/>
                </a:solidFill>
                <a:latin typeface="Times New Roman MT"/>
                <a:ea typeface="Times New Roman MT"/>
                <a:cs typeface="Times New Roman MT"/>
                <a:sym typeface="Times New Roman MT"/>
              </a:rPr>
              <a:t>10. EMPLOYS (center_id FK, mechanic_id FK, PK(center_id, mechanic_id))</a:t>
            </a:r>
          </a:p>
          <a:p>
            <a:pPr algn="just">
              <a:lnSpc>
                <a:spcPts val="3780"/>
              </a:lnSpc>
            </a:pPr>
            <a:r>
              <a:rPr lang="en-US" sz="2700">
                <a:solidFill>
                  <a:srgbClr val="000000"/>
                </a:solidFill>
                <a:latin typeface="Times New Roman MT"/>
                <a:ea typeface="Times New Roman MT"/>
                <a:cs typeface="Times New Roman MT"/>
                <a:sym typeface="Times New Roman MT"/>
              </a:rPr>
              <a:t>11. SUPPLIER (supplier_id PK, name)</a:t>
            </a:r>
          </a:p>
          <a:p>
            <a:pPr algn="just">
              <a:lnSpc>
                <a:spcPts val="3780"/>
              </a:lnSpc>
            </a:pPr>
            <a:r>
              <a:rPr lang="en-US" sz="2700">
                <a:solidFill>
                  <a:srgbClr val="000000"/>
                </a:solidFill>
                <a:latin typeface="Times New Roman MT"/>
                <a:ea typeface="Times New Roman MT"/>
                <a:cs typeface="Times New Roman MT"/>
                <a:sym typeface="Times New Roman MT"/>
              </a:rPr>
              <a:t>12. SPAREPARTS (part_id PK, part_name, price, supplier_id FK)</a:t>
            </a:r>
          </a:p>
          <a:p>
            <a:pPr algn="just">
              <a:lnSpc>
                <a:spcPts val="3780"/>
              </a:lnSpc>
            </a:pPr>
            <a:r>
              <a:rPr lang="en-US" sz="2700">
                <a:solidFill>
                  <a:srgbClr val="000000"/>
                </a:solidFill>
                <a:latin typeface="Times New Roman MT"/>
                <a:ea typeface="Times New Roman MT"/>
                <a:cs typeface="Times New Roman MT"/>
                <a:sym typeface="Times New Roman MT"/>
              </a:rPr>
              <a:t>13. SERVICE (service_id PK, service_date, service_type, labor_cost, vehicle_id FK, mechanic_id FK)</a:t>
            </a:r>
          </a:p>
          <a:p>
            <a:pPr algn="just">
              <a:lnSpc>
                <a:spcPts val="3780"/>
              </a:lnSpc>
            </a:pPr>
            <a:r>
              <a:rPr lang="en-US" sz="2700">
                <a:solidFill>
                  <a:srgbClr val="000000"/>
                </a:solidFill>
                <a:latin typeface="Times New Roman MT"/>
                <a:ea typeface="Times New Roman MT"/>
                <a:cs typeface="Times New Roman MT"/>
                <a:sym typeface="Times New Roman MT"/>
              </a:rPr>
              <a:t>14. SERVICE_RECORD (service_id FK, record_id, PK(service_id, record_id), description, time_taken)</a:t>
            </a:r>
          </a:p>
          <a:p>
            <a:pPr algn="just">
              <a:lnSpc>
                <a:spcPts val="3780"/>
              </a:lnSpc>
            </a:pPr>
            <a:r>
              <a:rPr lang="en-US" sz="2700">
                <a:solidFill>
                  <a:srgbClr val="000000"/>
                </a:solidFill>
                <a:latin typeface="Times New Roman MT"/>
                <a:ea typeface="Times New Roman MT"/>
                <a:cs typeface="Times New Roman MT"/>
                <a:sym typeface="Times New Roman MT"/>
              </a:rPr>
              <a:t>15. SERVICE_PARTS (service_id FK, part_id FK, PK(service_id, part_id), quantity_used)</a:t>
            </a:r>
          </a:p>
          <a:p>
            <a:pPr algn="just">
              <a:lnSpc>
                <a:spcPts val="3780"/>
              </a:lnSpc>
            </a:pPr>
            <a:r>
              <a:rPr lang="en-US" sz="2700">
                <a:solidFill>
                  <a:srgbClr val="000000"/>
                </a:solidFill>
                <a:latin typeface="Times New Roman MT"/>
                <a:ea typeface="Times New Roman MT"/>
                <a:cs typeface="Times New Roman MT"/>
                <a:sym typeface="Times New Roman MT"/>
              </a:rPr>
              <a:t>16. BILL (bill_id PK, service_id FK UNIQUE)</a:t>
            </a:r>
          </a:p>
          <a:p>
            <a:pPr algn="just">
              <a:lnSpc>
                <a:spcPts val="3780"/>
              </a:lnSpc>
            </a:pPr>
            <a:r>
              <a:rPr lang="en-US" sz="2700">
                <a:solidFill>
                  <a:srgbClr val="000000"/>
                </a:solidFill>
                <a:latin typeface="Times New Roman MT"/>
                <a:ea typeface="Times New Roman MT"/>
                <a:cs typeface="Times New Roman MT"/>
                <a:sym typeface="Times New Roman MT"/>
              </a:rPr>
              <a:t>17. PAYMENT (payment_id PK, bill_id FK)</a:t>
            </a:r>
          </a:p>
        </p:txBody>
      </p:sp>
      <p:sp>
        <p:nvSpPr>
          <p:cNvPr name="AutoShape 6" id="6"/>
          <p:cNvSpPr/>
          <p:nvPr/>
        </p:nvSpPr>
        <p:spPr>
          <a:xfrm flipV="true">
            <a:off x="9163050" y="2477770"/>
            <a:ext cx="0" cy="649224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8727001" y="3951246"/>
            <a:ext cx="8687281" cy="3050411"/>
          </a:xfrm>
          <a:custGeom>
            <a:avLst/>
            <a:gdLst/>
            <a:ahLst/>
            <a:cxnLst/>
            <a:rect r="r" b="b" t="t" l="l"/>
            <a:pathLst>
              <a:path h="3050411" w="8687281">
                <a:moveTo>
                  <a:pt x="0" y="0"/>
                </a:moveTo>
                <a:lnTo>
                  <a:pt x="8687281" y="0"/>
                </a:lnTo>
                <a:lnTo>
                  <a:pt x="8687281" y="3050411"/>
                </a:lnTo>
                <a:lnTo>
                  <a:pt x="0" y="3050411"/>
                </a:lnTo>
                <a:lnTo>
                  <a:pt x="0" y="0"/>
                </a:lnTo>
                <a:close/>
              </a:path>
            </a:pathLst>
          </a:custGeom>
          <a:blipFill>
            <a:blip r:embed="rId3"/>
            <a:stretch>
              <a:fillRect l="0" t="-135" r="0" b="-135"/>
            </a:stretch>
          </a:blipFill>
        </p:spPr>
      </p:sp>
      <p:sp>
        <p:nvSpPr>
          <p:cNvPr name="TextBox 4" id="4"/>
          <p:cNvSpPr txBox="true"/>
          <p:nvPr/>
        </p:nvSpPr>
        <p:spPr>
          <a:xfrm rot="0">
            <a:off x="1028700" y="942975"/>
            <a:ext cx="3781224" cy="1360174"/>
          </a:xfrm>
          <a:prstGeom prst="rect">
            <a:avLst/>
          </a:prstGeom>
        </p:spPr>
        <p:txBody>
          <a:bodyPr anchor="t" rtlCol="false" tIns="0" lIns="0" bIns="0" rIns="0">
            <a:spAutoFit/>
          </a:bodyPr>
          <a:lstStyle/>
          <a:p>
            <a:pPr algn="l" marL="0" indent="0" lvl="0">
              <a:lnSpc>
                <a:spcPts val="10919"/>
              </a:lnSpc>
              <a:spcBef>
                <a:spcPct val="0"/>
              </a:spcBef>
            </a:pPr>
            <a:r>
              <a:rPr lang="en-US" b="true" sz="8399" spc="-789">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Gotham Bold"/>
                <a:ea typeface="Gotham Bold"/>
                <a:cs typeface="Gotham Bold"/>
                <a:sym typeface="Gotham Bold"/>
              </a:rPr>
              <a:t>Qu</a:t>
            </a:r>
            <a:r>
              <a:rPr lang="en-US" b="true" sz="8399" spc="-789" strike="noStrike" u="none">
                <a:gradFill>
                  <a:gsLst>
                    <a:gs pos="0">
                      <a:srgbClr val="4B91E5">
                        <a:alpha val="100000"/>
                      </a:srgbClr>
                    </a:gs>
                    <a:gs pos="33333">
                      <a:srgbClr val="4B91E5">
                        <a:alpha val="100000"/>
                      </a:srgbClr>
                    </a:gs>
                    <a:gs pos="66667">
                      <a:srgbClr val="3FAECB">
                        <a:alpha val="100000"/>
                      </a:srgbClr>
                    </a:gs>
                    <a:gs pos="100000">
                      <a:srgbClr val="41C4AB">
                        <a:alpha val="100000"/>
                      </a:srgbClr>
                    </a:gs>
                  </a:gsLst>
                  <a:lin ang="2700000"/>
                </a:gradFill>
                <a:latin typeface="Gotham Bold"/>
                <a:ea typeface="Gotham Bold"/>
                <a:cs typeface="Gotham Bold"/>
                <a:sym typeface="Gotham Bold"/>
              </a:rPr>
              <a:t>eries</a:t>
            </a:r>
          </a:p>
        </p:txBody>
      </p:sp>
      <p:sp>
        <p:nvSpPr>
          <p:cNvPr name="TextBox 5" id="5"/>
          <p:cNvSpPr txBox="true"/>
          <p:nvPr/>
        </p:nvSpPr>
        <p:spPr>
          <a:xfrm rot="0">
            <a:off x="819709" y="2474872"/>
            <a:ext cx="9327728" cy="7356475"/>
          </a:xfrm>
          <a:prstGeom prst="rect">
            <a:avLst/>
          </a:prstGeom>
        </p:spPr>
        <p:txBody>
          <a:bodyPr anchor="t" rtlCol="false" tIns="0" lIns="0" bIns="0" rIns="0">
            <a:spAutoFit/>
          </a:bodyPr>
          <a:lstStyle/>
          <a:p>
            <a:pPr algn="just">
              <a:lnSpc>
                <a:spcPts val="4340"/>
              </a:lnSpc>
            </a:pPr>
            <a:r>
              <a:rPr lang="en-US" sz="3100">
                <a:solidFill>
                  <a:srgbClr val="000000"/>
                </a:solidFill>
                <a:latin typeface="Times New Roman MT"/>
                <a:ea typeface="Times New Roman MT"/>
                <a:cs typeface="Times New Roman MT"/>
                <a:sym typeface="Times New Roman MT"/>
              </a:rPr>
              <a:t>1.GROUP BY ... H</a:t>
            </a:r>
            <a:r>
              <a:rPr lang="en-US" sz="3100">
                <a:solidFill>
                  <a:srgbClr val="000000"/>
                </a:solidFill>
                <a:latin typeface="Times New Roman MT"/>
                <a:ea typeface="Times New Roman MT"/>
                <a:cs typeface="Times New Roman MT"/>
                <a:sym typeface="Times New Roman MT"/>
              </a:rPr>
              <a:t>AVING</a:t>
            </a:r>
          </a:p>
          <a:p>
            <a:pPr algn="just">
              <a:lnSpc>
                <a:spcPts val="4060"/>
              </a:lnSpc>
            </a:pPr>
            <a:r>
              <a:rPr lang="en-US" sz="2900">
                <a:solidFill>
                  <a:srgbClr val="000000"/>
                </a:solidFill>
                <a:latin typeface="Times New Roman MT"/>
                <a:ea typeface="Times New Roman MT"/>
                <a:cs typeface="Times New Roman MT"/>
                <a:sym typeface="Times New Roman MT"/>
              </a:rPr>
              <a:t>Use case: Find mechanics who have handled more than 1 service, along with their total labor cost earned.</a:t>
            </a:r>
          </a:p>
          <a:p>
            <a:pPr algn="just">
              <a:lnSpc>
                <a:spcPts val="4060"/>
              </a:lnSpc>
            </a:pPr>
            <a:r>
              <a:rPr lang="en-US" sz="2900">
                <a:solidFill>
                  <a:srgbClr val="000000"/>
                </a:solidFill>
                <a:latin typeface="Times New Roman MT"/>
                <a:ea typeface="Times New Roman MT"/>
                <a:cs typeface="Times New Roman MT"/>
                <a:sym typeface="Times New Roman MT"/>
              </a:rPr>
              <a:t>Query:</a:t>
            </a:r>
          </a:p>
          <a:p>
            <a:pPr algn="just">
              <a:lnSpc>
                <a:spcPts val="4060"/>
              </a:lnSpc>
            </a:pPr>
            <a:r>
              <a:rPr lang="en-US" sz="2900">
                <a:solidFill>
                  <a:srgbClr val="000000"/>
                </a:solidFill>
                <a:latin typeface="Times New Roman MT"/>
                <a:ea typeface="Times New Roman MT"/>
                <a:cs typeface="Times New Roman MT"/>
                <a:sym typeface="Times New Roman MT"/>
              </a:rPr>
              <a:t>SELECT </a:t>
            </a:r>
          </a:p>
          <a:p>
            <a:pPr algn="just">
              <a:lnSpc>
                <a:spcPts val="4060"/>
              </a:lnSpc>
            </a:pPr>
            <a:r>
              <a:rPr lang="en-US" sz="2900">
                <a:solidFill>
                  <a:srgbClr val="000000"/>
                </a:solidFill>
                <a:latin typeface="Times New Roman MT"/>
                <a:ea typeface="Times New Roman MT"/>
                <a:cs typeface="Times New Roman MT"/>
                <a:sym typeface="Times New Roman MT"/>
              </a:rPr>
              <a:t>   m.name                   AS mechanic_name,</a:t>
            </a:r>
          </a:p>
          <a:p>
            <a:pPr algn="just">
              <a:lnSpc>
                <a:spcPts val="4060"/>
              </a:lnSpc>
            </a:pPr>
            <a:r>
              <a:rPr lang="en-US" sz="2900">
                <a:solidFill>
                  <a:srgbClr val="000000"/>
                </a:solidFill>
                <a:latin typeface="Times New Roman MT"/>
                <a:ea typeface="Times New Roman MT"/>
                <a:cs typeface="Times New Roman MT"/>
                <a:sym typeface="Times New Roman MT"/>
              </a:rPr>
              <a:t>   COUNT(s.service_id)      AS total_services,</a:t>
            </a:r>
          </a:p>
          <a:p>
            <a:pPr algn="just">
              <a:lnSpc>
                <a:spcPts val="4060"/>
              </a:lnSpc>
            </a:pPr>
            <a:r>
              <a:rPr lang="en-US" sz="2900">
                <a:solidFill>
                  <a:srgbClr val="000000"/>
                </a:solidFill>
                <a:latin typeface="Times New Roman MT"/>
                <a:ea typeface="Times New Roman MT"/>
                <a:cs typeface="Times New Roman MT"/>
                <a:sym typeface="Times New Roman MT"/>
              </a:rPr>
              <a:t>   SUM(s.labor_cost)        AS total_labor_earned</a:t>
            </a:r>
          </a:p>
          <a:p>
            <a:pPr algn="just">
              <a:lnSpc>
                <a:spcPts val="4060"/>
              </a:lnSpc>
            </a:pPr>
            <a:r>
              <a:rPr lang="en-US" sz="2900">
                <a:solidFill>
                  <a:srgbClr val="000000"/>
                </a:solidFill>
                <a:latin typeface="Times New Roman MT"/>
                <a:ea typeface="Times New Roman MT"/>
                <a:cs typeface="Times New Roman MT"/>
                <a:sym typeface="Times New Roman MT"/>
              </a:rPr>
              <a:t>FROM SERVICE s</a:t>
            </a:r>
          </a:p>
          <a:p>
            <a:pPr algn="just">
              <a:lnSpc>
                <a:spcPts val="4060"/>
              </a:lnSpc>
            </a:pPr>
            <a:r>
              <a:rPr lang="en-US" sz="2900">
                <a:solidFill>
                  <a:srgbClr val="000000"/>
                </a:solidFill>
                <a:latin typeface="Times New Roman MT"/>
                <a:ea typeface="Times New Roman MT"/>
                <a:cs typeface="Times New Roman MT"/>
                <a:sym typeface="Times New Roman MT"/>
              </a:rPr>
              <a:t>JOIN MECHANIC m ON s.mechanic_id = m.mechanic_id</a:t>
            </a:r>
          </a:p>
          <a:p>
            <a:pPr algn="just">
              <a:lnSpc>
                <a:spcPts val="4060"/>
              </a:lnSpc>
            </a:pPr>
            <a:r>
              <a:rPr lang="en-US" sz="2900">
                <a:solidFill>
                  <a:srgbClr val="000000"/>
                </a:solidFill>
                <a:latin typeface="Times New Roman MT"/>
                <a:ea typeface="Times New Roman MT"/>
                <a:cs typeface="Times New Roman MT"/>
                <a:sym typeface="Times New Roman MT"/>
              </a:rPr>
              <a:t>GROUP BY m.name</a:t>
            </a:r>
          </a:p>
          <a:p>
            <a:pPr algn="just">
              <a:lnSpc>
                <a:spcPts val="4060"/>
              </a:lnSpc>
            </a:pPr>
            <a:r>
              <a:rPr lang="en-US" sz="2900">
                <a:solidFill>
                  <a:srgbClr val="000000"/>
                </a:solidFill>
                <a:latin typeface="Times New Roman MT"/>
                <a:ea typeface="Times New Roman MT"/>
                <a:cs typeface="Times New Roman MT"/>
                <a:sym typeface="Times New Roman MT"/>
              </a:rPr>
              <a:t>HAVING COUNT(s.service_id) &gt; 1</a:t>
            </a:r>
          </a:p>
          <a:p>
            <a:pPr algn="just">
              <a:lnSpc>
                <a:spcPts val="4060"/>
              </a:lnSpc>
            </a:pPr>
            <a:r>
              <a:rPr lang="en-US" sz="2900">
                <a:solidFill>
                  <a:srgbClr val="000000"/>
                </a:solidFill>
                <a:latin typeface="Times New Roman MT"/>
                <a:ea typeface="Times New Roman MT"/>
                <a:cs typeface="Times New Roman MT"/>
                <a:sym typeface="Times New Roman MT"/>
              </a:rPr>
              <a:t>ORDER BY total_labor_earned DESC;</a:t>
            </a:r>
          </a:p>
          <a:p>
            <a:pPr algn="ctr">
              <a:lnSpc>
                <a:spcPts val="4759"/>
              </a:lnSpc>
            </a:pP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7477814" y="2527913"/>
            <a:ext cx="10301401" cy="4431998"/>
          </a:xfrm>
          <a:custGeom>
            <a:avLst/>
            <a:gdLst/>
            <a:ahLst/>
            <a:cxnLst/>
            <a:rect r="r" b="b" t="t" l="l"/>
            <a:pathLst>
              <a:path h="4431998" w="10301401">
                <a:moveTo>
                  <a:pt x="0" y="0"/>
                </a:moveTo>
                <a:lnTo>
                  <a:pt x="10301401" y="0"/>
                </a:lnTo>
                <a:lnTo>
                  <a:pt x="10301401" y="4431998"/>
                </a:lnTo>
                <a:lnTo>
                  <a:pt x="0" y="4431998"/>
                </a:lnTo>
                <a:lnTo>
                  <a:pt x="0" y="0"/>
                </a:lnTo>
                <a:close/>
              </a:path>
            </a:pathLst>
          </a:custGeom>
          <a:blipFill>
            <a:blip r:embed="rId3"/>
            <a:stretch>
              <a:fillRect l="0" t="0" r="0" b="0"/>
            </a:stretch>
          </a:blipFill>
        </p:spPr>
      </p:sp>
      <p:sp>
        <p:nvSpPr>
          <p:cNvPr name="TextBox 4" id="4"/>
          <p:cNvSpPr txBox="true"/>
          <p:nvPr/>
        </p:nvSpPr>
        <p:spPr>
          <a:xfrm rot="0">
            <a:off x="1028700" y="904875"/>
            <a:ext cx="6637297" cy="7936230"/>
          </a:xfrm>
          <a:prstGeom prst="rect">
            <a:avLst/>
          </a:prstGeom>
        </p:spPr>
        <p:txBody>
          <a:bodyPr anchor="t" rtlCol="false" tIns="0" lIns="0" bIns="0" rIns="0">
            <a:spAutoFit/>
          </a:bodyPr>
          <a:lstStyle/>
          <a:p>
            <a:pPr algn="l">
              <a:lnSpc>
                <a:spcPts val="4480"/>
              </a:lnSpc>
            </a:pPr>
            <a:r>
              <a:rPr lang="en-US" sz="3200">
                <a:solidFill>
                  <a:srgbClr val="000000"/>
                </a:solidFill>
                <a:latin typeface="Times New Roman MT"/>
                <a:ea typeface="Times New Roman MT"/>
                <a:cs typeface="Times New Roman MT"/>
                <a:sym typeface="Times New Roman MT"/>
              </a:rPr>
              <a:t>2.ORDER BY</a:t>
            </a:r>
          </a:p>
          <a:p>
            <a:pPr algn="just">
              <a:lnSpc>
                <a:spcPts val="4060"/>
              </a:lnSpc>
            </a:pPr>
            <a:r>
              <a:rPr lang="en-US" sz="2900">
                <a:solidFill>
                  <a:srgbClr val="000000"/>
                </a:solidFill>
                <a:latin typeface="Times New Roman MT"/>
                <a:ea typeface="Times New Roman MT"/>
                <a:cs typeface="Times New Roman MT"/>
                <a:sym typeface="Times New Roman MT"/>
              </a:rPr>
              <a:t>Use case: List all services in chronological order along with the vehicle number and service type, most recent first.</a:t>
            </a:r>
          </a:p>
          <a:p>
            <a:pPr algn="just">
              <a:lnSpc>
                <a:spcPts val="4480"/>
              </a:lnSpc>
            </a:pPr>
            <a:r>
              <a:rPr lang="en-US" sz="3200">
                <a:solidFill>
                  <a:srgbClr val="000000"/>
                </a:solidFill>
                <a:latin typeface="Times New Roman MT"/>
                <a:ea typeface="Times New Roman MT"/>
                <a:cs typeface="Times New Roman MT"/>
                <a:sym typeface="Times New Roman MT"/>
              </a:rPr>
              <a:t>SELECT </a:t>
            </a:r>
          </a:p>
          <a:p>
            <a:pPr algn="just">
              <a:lnSpc>
                <a:spcPts val="4060"/>
              </a:lnSpc>
            </a:pPr>
            <a:r>
              <a:rPr lang="en-US" sz="2900">
                <a:solidFill>
                  <a:srgbClr val="000000"/>
                </a:solidFill>
                <a:latin typeface="Times New Roman MT"/>
                <a:ea typeface="Times New Roman MT"/>
                <a:cs typeface="Times New Roman MT"/>
                <a:sym typeface="Times New Roman MT"/>
              </a:rPr>
              <a:t>s.service_id,</a:t>
            </a:r>
          </a:p>
          <a:p>
            <a:pPr algn="just">
              <a:lnSpc>
                <a:spcPts val="4060"/>
              </a:lnSpc>
            </a:pPr>
            <a:r>
              <a:rPr lang="en-US" sz="2900">
                <a:solidFill>
                  <a:srgbClr val="000000"/>
                </a:solidFill>
                <a:latin typeface="Times New Roman MT"/>
                <a:ea typeface="Times New Roman MT"/>
                <a:cs typeface="Times New Roman MT"/>
                <a:sym typeface="Times New Roman MT"/>
              </a:rPr>
              <a:t>v.vehicle_number,</a:t>
            </a:r>
          </a:p>
          <a:p>
            <a:pPr algn="just">
              <a:lnSpc>
                <a:spcPts val="4060"/>
              </a:lnSpc>
            </a:pPr>
            <a:r>
              <a:rPr lang="en-US" sz="2900">
                <a:solidFill>
                  <a:srgbClr val="000000"/>
                </a:solidFill>
                <a:latin typeface="Times New Roman MT"/>
                <a:ea typeface="Times New Roman MT"/>
                <a:cs typeface="Times New Roman MT"/>
                <a:sym typeface="Times New Roman MT"/>
              </a:rPr>
              <a:t>s.service_type,</a:t>
            </a:r>
          </a:p>
          <a:p>
            <a:pPr algn="just">
              <a:lnSpc>
                <a:spcPts val="4060"/>
              </a:lnSpc>
            </a:pPr>
            <a:r>
              <a:rPr lang="en-US" sz="2900">
                <a:solidFill>
                  <a:srgbClr val="000000"/>
                </a:solidFill>
                <a:latin typeface="Times New Roman MT"/>
                <a:ea typeface="Times New Roman MT"/>
                <a:cs typeface="Times New Roman MT"/>
                <a:sym typeface="Times New Roman MT"/>
              </a:rPr>
              <a:t>s.service_date,</a:t>
            </a:r>
          </a:p>
          <a:p>
            <a:pPr algn="just">
              <a:lnSpc>
                <a:spcPts val="4060"/>
              </a:lnSpc>
            </a:pPr>
            <a:r>
              <a:rPr lang="en-US" sz="2900">
                <a:solidFill>
                  <a:srgbClr val="000000"/>
                </a:solidFill>
                <a:latin typeface="Times New Roman MT"/>
                <a:ea typeface="Times New Roman MT"/>
                <a:cs typeface="Times New Roman MT"/>
                <a:sym typeface="Times New Roman MT"/>
              </a:rPr>
              <a:t>s.labor_cost</a:t>
            </a:r>
          </a:p>
          <a:p>
            <a:pPr algn="just">
              <a:lnSpc>
                <a:spcPts val="4060"/>
              </a:lnSpc>
            </a:pPr>
            <a:r>
              <a:rPr lang="en-US" sz="2900">
                <a:solidFill>
                  <a:srgbClr val="000000"/>
                </a:solidFill>
                <a:latin typeface="Times New Roman MT"/>
                <a:ea typeface="Times New Roman MT"/>
                <a:cs typeface="Times New Roman MT"/>
                <a:sym typeface="Times New Roman MT"/>
              </a:rPr>
              <a:t>FROM SERVICE s</a:t>
            </a:r>
          </a:p>
          <a:p>
            <a:pPr algn="just">
              <a:lnSpc>
                <a:spcPts val="4060"/>
              </a:lnSpc>
            </a:pPr>
            <a:r>
              <a:rPr lang="en-US" sz="2900">
                <a:solidFill>
                  <a:srgbClr val="000000"/>
                </a:solidFill>
                <a:latin typeface="Times New Roman MT"/>
                <a:ea typeface="Times New Roman MT"/>
                <a:cs typeface="Times New Roman MT"/>
                <a:sym typeface="Times New Roman MT"/>
              </a:rPr>
              <a:t>JOIN VEHICLE v ON s.vehicle_id = v.vehicle_id</a:t>
            </a:r>
          </a:p>
          <a:p>
            <a:pPr algn="just">
              <a:lnSpc>
                <a:spcPts val="4060"/>
              </a:lnSpc>
            </a:pPr>
            <a:r>
              <a:rPr lang="en-US" sz="2900">
                <a:solidFill>
                  <a:srgbClr val="000000"/>
                </a:solidFill>
                <a:latin typeface="Times New Roman MT"/>
                <a:ea typeface="Times New Roman MT"/>
                <a:cs typeface="Times New Roman MT"/>
                <a:sym typeface="Times New Roman MT"/>
              </a:rPr>
              <a:t>ORDER BY s.service_date DESC;</a:t>
            </a:r>
          </a:p>
          <a:p>
            <a:pPr algn="ctr">
              <a:lnSpc>
                <a:spcPts val="4759"/>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476502" y="3061446"/>
            <a:ext cx="10622003" cy="4164107"/>
          </a:xfrm>
          <a:custGeom>
            <a:avLst/>
            <a:gdLst/>
            <a:ahLst/>
            <a:cxnLst/>
            <a:rect r="r" b="b" t="t" l="l"/>
            <a:pathLst>
              <a:path h="4164107" w="10622003">
                <a:moveTo>
                  <a:pt x="0" y="0"/>
                </a:moveTo>
                <a:lnTo>
                  <a:pt x="10622003" y="0"/>
                </a:lnTo>
                <a:lnTo>
                  <a:pt x="10622003" y="4164108"/>
                </a:lnTo>
                <a:lnTo>
                  <a:pt x="0" y="4164108"/>
                </a:lnTo>
                <a:lnTo>
                  <a:pt x="0" y="0"/>
                </a:lnTo>
                <a:close/>
              </a:path>
            </a:pathLst>
          </a:custGeom>
          <a:blipFill>
            <a:blip r:embed="rId3"/>
            <a:stretch>
              <a:fillRect l="0" t="0" r="0" b="0"/>
            </a:stretch>
          </a:blipFill>
        </p:spPr>
      </p:sp>
      <p:sp>
        <p:nvSpPr>
          <p:cNvPr name="TextBox 4" id="4"/>
          <p:cNvSpPr txBox="true"/>
          <p:nvPr/>
        </p:nvSpPr>
        <p:spPr>
          <a:xfrm rot="0">
            <a:off x="1028700" y="1140527"/>
            <a:ext cx="7783752" cy="8931860"/>
          </a:xfrm>
          <a:prstGeom prst="rect">
            <a:avLst/>
          </a:prstGeom>
        </p:spPr>
        <p:txBody>
          <a:bodyPr anchor="t" rtlCol="false" tIns="0" lIns="0" bIns="0" rIns="0">
            <a:spAutoFit/>
          </a:bodyPr>
          <a:lstStyle/>
          <a:p>
            <a:pPr algn="just">
              <a:lnSpc>
                <a:spcPts val="3888"/>
              </a:lnSpc>
            </a:pPr>
            <a:r>
              <a:rPr lang="en-US" sz="2777">
                <a:solidFill>
                  <a:srgbClr val="000000"/>
                </a:solidFill>
                <a:latin typeface="Times New Roman MT"/>
                <a:ea typeface="Times New Roman MT"/>
                <a:cs typeface="Times New Roman MT"/>
                <a:sym typeface="Times New Roman MT"/>
              </a:rPr>
              <a:t>3. INNER JOIN</a:t>
            </a:r>
          </a:p>
          <a:p>
            <a:pPr algn="just">
              <a:lnSpc>
                <a:spcPts val="3888"/>
              </a:lnSpc>
            </a:pPr>
            <a:r>
              <a:rPr lang="en-US" sz="2777">
                <a:solidFill>
                  <a:srgbClr val="000000"/>
                </a:solidFill>
                <a:latin typeface="Times New Roman MT"/>
                <a:ea typeface="Times New Roman MT"/>
                <a:cs typeface="Times New Roman MT"/>
                <a:sym typeface="Times New Roman MT"/>
              </a:rPr>
              <a:t>Use case: Display customer name, vehicle number, and all services availed, to get a complete service history.</a:t>
            </a:r>
          </a:p>
          <a:p>
            <a:pPr algn="just">
              <a:lnSpc>
                <a:spcPts val="3888"/>
              </a:lnSpc>
            </a:pPr>
          </a:p>
          <a:p>
            <a:pPr algn="just">
              <a:lnSpc>
                <a:spcPts val="3888"/>
              </a:lnSpc>
            </a:pPr>
            <a:r>
              <a:rPr lang="en-US" sz="2777">
                <a:solidFill>
                  <a:srgbClr val="000000"/>
                </a:solidFill>
                <a:latin typeface="Times New Roman MT"/>
                <a:ea typeface="Times New Roman MT"/>
                <a:cs typeface="Times New Roman MT"/>
                <a:sym typeface="Times New Roman MT"/>
              </a:rPr>
              <a:t>SELECT </a:t>
            </a:r>
          </a:p>
          <a:p>
            <a:pPr algn="just">
              <a:lnSpc>
                <a:spcPts val="3888"/>
              </a:lnSpc>
            </a:pPr>
            <a:r>
              <a:rPr lang="en-US" sz="2777">
                <a:solidFill>
                  <a:srgbClr val="000000"/>
                </a:solidFill>
                <a:latin typeface="Times New Roman MT"/>
                <a:ea typeface="Times New Roman MT"/>
                <a:cs typeface="Times New Roman MT"/>
                <a:sym typeface="Times New Roman MT"/>
              </a:rPr>
              <a:t>c.name AS customer_name,</a:t>
            </a:r>
          </a:p>
          <a:p>
            <a:pPr algn="just">
              <a:lnSpc>
                <a:spcPts val="3888"/>
              </a:lnSpc>
            </a:pPr>
            <a:r>
              <a:rPr lang="en-US" sz="2777">
                <a:solidFill>
                  <a:srgbClr val="000000"/>
                </a:solidFill>
                <a:latin typeface="Times New Roman MT"/>
                <a:ea typeface="Times New Roman MT"/>
                <a:cs typeface="Times New Roman MT"/>
                <a:sym typeface="Times New Roman MT"/>
              </a:rPr>
              <a:t>v.vehicle_number,</a:t>
            </a:r>
          </a:p>
          <a:p>
            <a:pPr algn="just">
              <a:lnSpc>
                <a:spcPts val="3888"/>
              </a:lnSpc>
            </a:pPr>
            <a:r>
              <a:rPr lang="en-US" sz="2777">
                <a:solidFill>
                  <a:srgbClr val="000000"/>
                </a:solidFill>
                <a:latin typeface="Times New Roman MT"/>
                <a:ea typeface="Times New Roman MT"/>
                <a:cs typeface="Times New Roman MT"/>
                <a:sym typeface="Times New Roman MT"/>
              </a:rPr>
              <a:t>s.service_type,</a:t>
            </a:r>
          </a:p>
          <a:p>
            <a:pPr algn="just">
              <a:lnSpc>
                <a:spcPts val="3888"/>
              </a:lnSpc>
            </a:pPr>
            <a:r>
              <a:rPr lang="en-US" sz="2777">
                <a:solidFill>
                  <a:srgbClr val="000000"/>
                </a:solidFill>
                <a:latin typeface="Times New Roman MT"/>
                <a:ea typeface="Times New Roman MT"/>
                <a:cs typeface="Times New Roman MT"/>
                <a:sym typeface="Times New Roman MT"/>
              </a:rPr>
              <a:t>s.service_date,</a:t>
            </a:r>
          </a:p>
          <a:p>
            <a:pPr algn="just">
              <a:lnSpc>
                <a:spcPts val="3888"/>
              </a:lnSpc>
            </a:pPr>
            <a:r>
              <a:rPr lang="en-US" sz="2777">
                <a:solidFill>
                  <a:srgbClr val="000000"/>
                </a:solidFill>
                <a:latin typeface="Times New Roman MT"/>
                <a:ea typeface="Times New Roman MT"/>
                <a:cs typeface="Times New Roman MT"/>
                <a:sym typeface="Times New Roman MT"/>
              </a:rPr>
              <a:t>s.labor_cost</a:t>
            </a:r>
          </a:p>
          <a:p>
            <a:pPr algn="just">
              <a:lnSpc>
                <a:spcPts val="3888"/>
              </a:lnSpc>
            </a:pPr>
            <a:r>
              <a:rPr lang="en-US" sz="2777">
                <a:solidFill>
                  <a:srgbClr val="000000"/>
                </a:solidFill>
                <a:latin typeface="Times New Roman MT"/>
                <a:ea typeface="Times New Roman MT"/>
                <a:cs typeface="Times New Roman MT"/>
                <a:sym typeface="Times New Roman MT"/>
              </a:rPr>
              <a:t>FROM CUSTOMER c</a:t>
            </a:r>
          </a:p>
          <a:p>
            <a:pPr algn="just">
              <a:lnSpc>
                <a:spcPts val="3888"/>
              </a:lnSpc>
            </a:pPr>
            <a:r>
              <a:rPr lang="en-US" sz="2777">
                <a:solidFill>
                  <a:srgbClr val="000000"/>
                </a:solidFill>
                <a:latin typeface="Times New Roman MT"/>
                <a:ea typeface="Times New Roman MT"/>
                <a:cs typeface="Times New Roman MT"/>
                <a:sym typeface="Times New Roman MT"/>
              </a:rPr>
              <a:t>INNER JOIN VEHICLE v ON c.customer_id = v.customer_id</a:t>
            </a:r>
          </a:p>
          <a:p>
            <a:pPr algn="just">
              <a:lnSpc>
                <a:spcPts val="3888"/>
              </a:lnSpc>
            </a:pPr>
            <a:r>
              <a:rPr lang="en-US" sz="2777">
                <a:solidFill>
                  <a:srgbClr val="000000"/>
                </a:solidFill>
                <a:latin typeface="Times New Roman MT"/>
                <a:ea typeface="Times New Roman MT"/>
                <a:cs typeface="Times New Roman MT"/>
                <a:sym typeface="Times New Roman MT"/>
              </a:rPr>
              <a:t>INNER JOIN SERVICE s ON v.vehicle_id = s.vehicle_id</a:t>
            </a:r>
          </a:p>
          <a:p>
            <a:pPr algn="just">
              <a:lnSpc>
                <a:spcPts val="3888"/>
              </a:lnSpc>
            </a:pPr>
            <a:r>
              <a:rPr lang="en-US" sz="2777">
                <a:solidFill>
                  <a:srgbClr val="000000"/>
                </a:solidFill>
                <a:latin typeface="Times New Roman MT"/>
                <a:ea typeface="Times New Roman MT"/>
                <a:cs typeface="Times New Roman MT"/>
                <a:sym typeface="Times New Roman MT"/>
              </a:rPr>
              <a:t>ORDER BY c.name, s.service_date;</a:t>
            </a:r>
          </a:p>
          <a:p>
            <a:pPr algn="just">
              <a:lnSpc>
                <a:spcPts val="3888"/>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914400"/>
            <a:ext cx="12848569" cy="9528316"/>
          </a:xfrm>
          <a:prstGeom prst="rect">
            <a:avLst/>
          </a:prstGeom>
        </p:spPr>
        <p:txBody>
          <a:bodyPr anchor="t" rtlCol="false" tIns="0" lIns="0" bIns="0" rIns="0">
            <a:spAutoFit/>
          </a:bodyPr>
          <a:lstStyle/>
          <a:p>
            <a:pPr algn="just">
              <a:lnSpc>
                <a:spcPts val="4194"/>
              </a:lnSpc>
            </a:pPr>
            <a:r>
              <a:rPr lang="en-US" sz="2995">
                <a:solidFill>
                  <a:srgbClr val="000000"/>
                </a:solidFill>
                <a:latin typeface="Times New Roman MT"/>
                <a:ea typeface="Times New Roman MT"/>
                <a:cs typeface="Times New Roman MT"/>
                <a:sym typeface="Times New Roman MT"/>
              </a:rPr>
              <a:t>SELF JOIN</a:t>
            </a:r>
          </a:p>
          <a:p>
            <a:pPr algn="just">
              <a:lnSpc>
                <a:spcPts val="4194"/>
              </a:lnSpc>
            </a:pPr>
            <a:r>
              <a:rPr lang="en-US" sz="2995">
                <a:solidFill>
                  <a:srgbClr val="000000"/>
                </a:solidFill>
                <a:latin typeface="Times New Roman MT"/>
                <a:ea typeface="Times New Roman MT"/>
                <a:cs typeface="Times New Roman MT"/>
                <a:sym typeface="Times New Roman MT"/>
              </a:rPr>
              <a:t>Use case: Find pairs of mechanics who work at the same service center (to identify co-workers).</a:t>
            </a:r>
          </a:p>
          <a:p>
            <a:pPr algn="just">
              <a:lnSpc>
                <a:spcPts val="4194"/>
              </a:lnSpc>
            </a:pPr>
          </a:p>
          <a:p>
            <a:pPr algn="just">
              <a:lnSpc>
                <a:spcPts val="4194"/>
              </a:lnSpc>
            </a:pPr>
            <a:r>
              <a:rPr lang="en-US" sz="2995">
                <a:solidFill>
                  <a:srgbClr val="000000"/>
                </a:solidFill>
                <a:latin typeface="Times New Roman MT"/>
                <a:ea typeface="Times New Roman MT"/>
                <a:cs typeface="Times New Roman MT"/>
                <a:sym typeface="Times New Roman MT"/>
              </a:rPr>
              <a:t>SELECT </a:t>
            </a:r>
          </a:p>
          <a:p>
            <a:pPr algn="just">
              <a:lnSpc>
                <a:spcPts val="4194"/>
              </a:lnSpc>
            </a:pPr>
            <a:r>
              <a:rPr lang="en-US" sz="2995">
                <a:solidFill>
                  <a:srgbClr val="000000"/>
                </a:solidFill>
                <a:latin typeface="Times New Roman MT"/>
                <a:ea typeface="Times New Roman MT"/>
                <a:cs typeface="Times New Roman MT"/>
                <a:sym typeface="Times New Roman MT"/>
              </a:rPr>
              <a:t>e1.center_id,</a:t>
            </a:r>
          </a:p>
          <a:p>
            <a:pPr algn="just">
              <a:lnSpc>
                <a:spcPts val="4194"/>
              </a:lnSpc>
            </a:pPr>
            <a:r>
              <a:rPr lang="en-US" sz="2995">
                <a:solidFill>
                  <a:srgbClr val="000000"/>
                </a:solidFill>
                <a:latin typeface="Times New Roman MT"/>
                <a:ea typeface="Times New Roman MT"/>
                <a:cs typeface="Times New Roman MT"/>
                <a:sym typeface="Times New Roman MT"/>
              </a:rPr>
              <a:t>sc.name AS center_name,</a:t>
            </a:r>
          </a:p>
          <a:p>
            <a:pPr algn="just">
              <a:lnSpc>
                <a:spcPts val="4194"/>
              </a:lnSpc>
            </a:pPr>
            <a:r>
              <a:rPr lang="en-US" sz="2995">
                <a:solidFill>
                  <a:srgbClr val="000000"/>
                </a:solidFill>
                <a:latin typeface="Times New Roman MT"/>
                <a:ea typeface="Times New Roman MT"/>
                <a:cs typeface="Times New Roman MT"/>
                <a:sym typeface="Times New Roman MT"/>
              </a:rPr>
              <a:t>e1.mechanic_id AS mechanic_1,</a:t>
            </a:r>
          </a:p>
          <a:p>
            <a:pPr algn="just">
              <a:lnSpc>
                <a:spcPts val="4194"/>
              </a:lnSpc>
            </a:pPr>
            <a:r>
              <a:rPr lang="en-US" sz="2995">
                <a:solidFill>
                  <a:srgbClr val="000000"/>
                </a:solidFill>
                <a:latin typeface="Times New Roman MT"/>
                <a:ea typeface="Times New Roman MT"/>
                <a:cs typeface="Times New Roman MT"/>
                <a:sym typeface="Times New Roman MT"/>
              </a:rPr>
              <a:t>m1.name AS mechanic_1_name,</a:t>
            </a:r>
          </a:p>
          <a:p>
            <a:pPr algn="just">
              <a:lnSpc>
                <a:spcPts val="4194"/>
              </a:lnSpc>
            </a:pPr>
            <a:r>
              <a:rPr lang="en-US" sz="2995">
                <a:solidFill>
                  <a:srgbClr val="000000"/>
                </a:solidFill>
                <a:latin typeface="Times New Roman MT"/>
                <a:ea typeface="Times New Roman MT"/>
                <a:cs typeface="Times New Roman MT"/>
                <a:sym typeface="Times New Roman MT"/>
              </a:rPr>
              <a:t>e2.mechanic_id AS mechanic_2,</a:t>
            </a:r>
          </a:p>
          <a:p>
            <a:pPr algn="just">
              <a:lnSpc>
                <a:spcPts val="4194"/>
              </a:lnSpc>
            </a:pPr>
            <a:r>
              <a:rPr lang="en-US" sz="2995">
                <a:solidFill>
                  <a:srgbClr val="000000"/>
                </a:solidFill>
                <a:latin typeface="Times New Roman MT"/>
                <a:ea typeface="Times New Roman MT"/>
                <a:cs typeface="Times New Roman MT"/>
                <a:sym typeface="Times New Roman MT"/>
              </a:rPr>
              <a:t>m2.name AS mechanic_2_name</a:t>
            </a:r>
          </a:p>
          <a:p>
            <a:pPr algn="just">
              <a:lnSpc>
                <a:spcPts val="4194"/>
              </a:lnSpc>
            </a:pPr>
            <a:r>
              <a:rPr lang="en-US" sz="2995">
                <a:solidFill>
                  <a:srgbClr val="000000"/>
                </a:solidFill>
                <a:latin typeface="Times New Roman MT"/>
                <a:ea typeface="Times New Roman MT"/>
                <a:cs typeface="Times New Roman MT"/>
                <a:sym typeface="Times New Roman MT"/>
              </a:rPr>
              <a:t>FROM EMPLOYS e1</a:t>
            </a:r>
          </a:p>
          <a:p>
            <a:pPr algn="just">
              <a:lnSpc>
                <a:spcPts val="4194"/>
              </a:lnSpc>
            </a:pPr>
            <a:r>
              <a:rPr lang="en-US" sz="2995">
                <a:solidFill>
                  <a:srgbClr val="000000"/>
                </a:solidFill>
                <a:latin typeface="Times New Roman MT"/>
                <a:ea typeface="Times New Roman MT"/>
                <a:cs typeface="Times New Roman MT"/>
                <a:sym typeface="Times New Roman MT"/>
              </a:rPr>
              <a:t>JOIN EMPLOYS e2 ON e1.center_id = e2.center_id AND e1.mechanic_id &lt; e2.mechanic_id</a:t>
            </a:r>
          </a:p>
          <a:p>
            <a:pPr algn="just">
              <a:lnSpc>
                <a:spcPts val="4194"/>
              </a:lnSpc>
            </a:pPr>
            <a:r>
              <a:rPr lang="en-US" sz="2995">
                <a:solidFill>
                  <a:srgbClr val="000000"/>
                </a:solidFill>
                <a:latin typeface="Times New Roman MT"/>
                <a:ea typeface="Times New Roman MT"/>
                <a:cs typeface="Times New Roman MT"/>
                <a:sym typeface="Times New Roman MT"/>
              </a:rPr>
              <a:t>JOIN MECHANIC m1 ON e1.mechanic_id = m1.mechanic_id</a:t>
            </a:r>
          </a:p>
          <a:p>
            <a:pPr algn="just">
              <a:lnSpc>
                <a:spcPts val="4194"/>
              </a:lnSpc>
            </a:pPr>
            <a:r>
              <a:rPr lang="en-US" sz="2995">
                <a:solidFill>
                  <a:srgbClr val="000000"/>
                </a:solidFill>
                <a:latin typeface="Times New Roman MT"/>
                <a:ea typeface="Times New Roman MT"/>
                <a:cs typeface="Times New Roman MT"/>
                <a:sym typeface="Times New Roman MT"/>
              </a:rPr>
              <a:t>JOIN MECHANIC m2 ON e2.mechanic_id = m2.mechanic_id</a:t>
            </a:r>
          </a:p>
          <a:p>
            <a:pPr algn="just">
              <a:lnSpc>
                <a:spcPts val="4194"/>
              </a:lnSpc>
            </a:pPr>
            <a:r>
              <a:rPr lang="en-US" sz="2995">
                <a:solidFill>
                  <a:srgbClr val="000000"/>
                </a:solidFill>
                <a:latin typeface="Times New Roman MT"/>
                <a:ea typeface="Times New Roman MT"/>
                <a:cs typeface="Times New Roman MT"/>
                <a:sym typeface="Times New Roman MT"/>
              </a:rPr>
              <a:t>JOIN SERVICE_CENTER sc ON e1.center_id = sc.center_id;</a:t>
            </a:r>
          </a:p>
          <a:p>
            <a:pPr algn="just">
              <a:lnSpc>
                <a:spcPts val="4647"/>
              </a:lnSpc>
            </a:pPr>
          </a:p>
        </p:txBody>
      </p:sp>
      <p:sp>
        <p:nvSpPr>
          <p:cNvPr name="Freeform 4" id="4"/>
          <p:cNvSpPr/>
          <p:nvPr/>
        </p:nvSpPr>
        <p:spPr>
          <a:xfrm flipH="false" flipV="false" rot="0">
            <a:off x="6792280" y="3626071"/>
            <a:ext cx="10622003" cy="1517429"/>
          </a:xfrm>
          <a:custGeom>
            <a:avLst/>
            <a:gdLst/>
            <a:ahLst/>
            <a:cxnLst/>
            <a:rect r="r" b="b" t="t" l="l"/>
            <a:pathLst>
              <a:path h="1517429" w="10622003">
                <a:moveTo>
                  <a:pt x="0" y="0"/>
                </a:moveTo>
                <a:lnTo>
                  <a:pt x="10622002" y="0"/>
                </a:lnTo>
                <a:lnTo>
                  <a:pt x="10622002" y="1517429"/>
                </a:lnTo>
                <a:lnTo>
                  <a:pt x="0" y="1517429"/>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895350"/>
            <a:ext cx="12710188" cy="8743950"/>
          </a:xfrm>
          <a:prstGeom prst="rect">
            <a:avLst/>
          </a:prstGeom>
        </p:spPr>
        <p:txBody>
          <a:bodyPr anchor="t" rtlCol="false" tIns="0" lIns="0" bIns="0" rIns="0">
            <a:spAutoFit/>
          </a:bodyPr>
          <a:lstStyle/>
          <a:p>
            <a:pPr algn="just">
              <a:lnSpc>
                <a:spcPts val="4896"/>
              </a:lnSpc>
            </a:pPr>
            <a:r>
              <a:rPr lang="en-US" sz="3497">
                <a:solidFill>
                  <a:srgbClr val="000000"/>
                </a:solidFill>
                <a:latin typeface="Times New Roman MT"/>
                <a:ea typeface="Times New Roman MT"/>
                <a:cs typeface="Times New Roman MT"/>
                <a:sym typeface="Times New Roman MT"/>
              </a:rPr>
              <a:t>NATURAL JOIN</a:t>
            </a:r>
          </a:p>
          <a:p>
            <a:pPr algn="just">
              <a:lnSpc>
                <a:spcPts val="4896"/>
              </a:lnSpc>
            </a:pPr>
            <a:r>
              <a:rPr lang="en-US" sz="3497">
                <a:solidFill>
                  <a:srgbClr val="000000"/>
                </a:solidFill>
                <a:latin typeface="Times New Roman MT"/>
                <a:ea typeface="Times New Roman MT"/>
                <a:cs typeface="Times New Roman MT"/>
                <a:sym typeface="Times New Roman MT"/>
              </a:rPr>
              <a:t>Use case: Retrieve service records naturally joined with service to show descriptions per service.</a:t>
            </a:r>
          </a:p>
          <a:p>
            <a:pPr algn="just">
              <a:lnSpc>
                <a:spcPts val="4896"/>
              </a:lnSpc>
            </a:pPr>
          </a:p>
          <a:p>
            <a:pPr algn="just">
              <a:lnSpc>
                <a:spcPts val="4896"/>
              </a:lnSpc>
            </a:pPr>
            <a:r>
              <a:rPr lang="en-US" sz="3497">
                <a:solidFill>
                  <a:srgbClr val="000000"/>
                </a:solidFill>
                <a:latin typeface="Times New Roman MT"/>
                <a:ea typeface="Times New Roman MT"/>
                <a:cs typeface="Times New Roman MT"/>
                <a:sym typeface="Times New Roman MT"/>
              </a:rPr>
              <a:t>SELECT </a:t>
            </a:r>
          </a:p>
          <a:p>
            <a:pPr algn="just">
              <a:lnSpc>
                <a:spcPts val="4896"/>
              </a:lnSpc>
            </a:pPr>
            <a:r>
              <a:rPr lang="en-US" sz="3497">
                <a:solidFill>
                  <a:srgbClr val="000000"/>
                </a:solidFill>
                <a:latin typeface="Times New Roman MT"/>
                <a:ea typeface="Times New Roman MT"/>
                <a:cs typeface="Times New Roman MT"/>
                <a:sym typeface="Times New Roman MT"/>
              </a:rPr>
              <a:t>service_id,</a:t>
            </a:r>
          </a:p>
          <a:p>
            <a:pPr algn="just">
              <a:lnSpc>
                <a:spcPts val="4896"/>
              </a:lnSpc>
            </a:pPr>
            <a:r>
              <a:rPr lang="en-US" sz="3497">
                <a:solidFill>
                  <a:srgbClr val="000000"/>
                </a:solidFill>
                <a:latin typeface="Times New Roman MT"/>
                <a:ea typeface="Times New Roman MT"/>
                <a:cs typeface="Times New Roman MT"/>
                <a:sym typeface="Times New Roman MT"/>
              </a:rPr>
              <a:t>service_type,</a:t>
            </a:r>
          </a:p>
          <a:p>
            <a:pPr algn="just">
              <a:lnSpc>
                <a:spcPts val="4896"/>
              </a:lnSpc>
            </a:pPr>
            <a:r>
              <a:rPr lang="en-US" sz="3497">
                <a:solidFill>
                  <a:srgbClr val="000000"/>
                </a:solidFill>
                <a:latin typeface="Times New Roman MT"/>
                <a:ea typeface="Times New Roman MT"/>
                <a:cs typeface="Times New Roman MT"/>
                <a:sym typeface="Times New Roman MT"/>
              </a:rPr>
              <a:t>service_date,</a:t>
            </a:r>
          </a:p>
          <a:p>
            <a:pPr algn="just">
              <a:lnSpc>
                <a:spcPts val="4896"/>
              </a:lnSpc>
            </a:pPr>
            <a:r>
              <a:rPr lang="en-US" sz="3497">
                <a:solidFill>
                  <a:srgbClr val="000000"/>
                </a:solidFill>
                <a:latin typeface="Times New Roman MT"/>
                <a:ea typeface="Times New Roman MT"/>
                <a:cs typeface="Times New Roman MT"/>
                <a:sym typeface="Times New Roman MT"/>
              </a:rPr>
              <a:t>record_id,</a:t>
            </a:r>
          </a:p>
          <a:p>
            <a:pPr algn="just">
              <a:lnSpc>
                <a:spcPts val="4896"/>
              </a:lnSpc>
            </a:pPr>
            <a:r>
              <a:rPr lang="en-US" sz="3497">
                <a:solidFill>
                  <a:srgbClr val="000000"/>
                </a:solidFill>
                <a:latin typeface="Times New Roman MT"/>
                <a:ea typeface="Times New Roman MT"/>
                <a:cs typeface="Times New Roman MT"/>
                <a:sym typeface="Times New Roman MT"/>
              </a:rPr>
              <a:t>description,</a:t>
            </a:r>
          </a:p>
          <a:p>
            <a:pPr algn="just">
              <a:lnSpc>
                <a:spcPts val="4896"/>
              </a:lnSpc>
            </a:pPr>
            <a:r>
              <a:rPr lang="en-US" sz="3497">
                <a:solidFill>
                  <a:srgbClr val="000000"/>
                </a:solidFill>
                <a:latin typeface="Times New Roman MT"/>
                <a:ea typeface="Times New Roman MT"/>
                <a:cs typeface="Times New Roman MT"/>
                <a:sym typeface="Times New Roman MT"/>
              </a:rPr>
              <a:t>time_taken</a:t>
            </a:r>
          </a:p>
          <a:p>
            <a:pPr algn="just">
              <a:lnSpc>
                <a:spcPts val="4896"/>
              </a:lnSpc>
            </a:pPr>
            <a:r>
              <a:rPr lang="en-US" sz="3497">
                <a:solidFill>
                  <a:srgbClr val="000000"/>
                </a:solidFill>
                <a:latin typeface="Times New Roman MT"/>
                <a:ea typeface="Times New Roman MT"/>
                <a:cs typeface="Times New Roman MT"/>
                <a:sym typeface="Times New Roman MT"/>
              </a:rPr>
              <a:t>FROM SERVICE</a:t>
            </a:r>
          </a:p>
          <a:p>
            <a:pPr algn="just">
              <a:lnSpc>
                <a:spcPts val="4896"/>
              </a:lnSpc>
            </a:pPr>
            <a:r>
              <a:rPr lang="en-US" sz="3497">
                <a:solidFill>
                  <a:srgbClr val="000000"/>
                </a:solidFill>
                <a:latin typeface="Times New Roman MT"/>
                <a:ea typeface="Times New Roman MT"/>
                <a:cs typeface="Times New Roman MT"/>
                <a:sym typeface="Times New Roman MT"/>
              </a:rPr>
              <a:t>NATURAL JOIN SERVICE_RECORD;</a:t>
            </a:r>
          </a:p>
          <a:p>
            <a:pPr algn="just">
              <a:lnSpc>
                <a:spcPts val="5045"/>
              </a:lnSpc>
            </a:pPr>
          </a:p>
        </p:txBody>
      </p:sp>
      <p:sp>
        <p:nvSpPr>
          <p:cNvPr name="Freeform 4" id="4"/>
          <p:cNvSpPr/>
          <p:nvPr/>
        </p:nvSpPr>
        <p:spPr>
          <a:xfrm flipH="false" flipV="false" rot="0">
            <a:off x="4885439" y="2937759"/>
            <a:ext cx="12528844" cy="4641083"/>
          </a:xfrm>
          <a:custGeom>
            <a:avLst/>
            <a:gdLst/>
            <a:ahLst/>
            <a:cxnLst/>
            <a:rect r="r" b="b" t="t" l="l"/>
            <a:pathLst>
              <a:path h="4641083" w="12528844">
                <a:moveTo>
                  <a:pt x="0" y="0"/>
                </a:moveTo>
                <a:lnTo>
                  <a:pt x="12528843" y="0"/>
                </a:lnTo>
                <a:lnTo>
                  <a:pt x="12528843" y="4641083"/>
                </a:lnTo>
                <a:lnTo>
                  <a:pt x="0" y="4641083"/>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904875"/>
            <a:ext cx="13090405" cy="9648825"/>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CORRELATED SUBQUERY</a:t>
            </a:r>
          </a:p>
          <a:p>
            <a:pPr algn="just">
              <a:lnSpc>
                <a:spcPts val="4200"/>
              </a:lnSpc>
            </a:pPr>
            <a:r>
              <a:rPr lang="en-US" sz="3000">
                <a:solidFill>
                  <a:srgbClr val="000000"/>
                </a:solidFill>
                <a:latin typeface="Times New Roman MT"/>
                <a:ea typeface="Times New Roman MT"/>
                <a:cs typeface="Times New Roman MT"/>
                <a:sym typeface="Times New Roman MT"/>
              </a:rPr>
              <a:t>Use case: Find customers who have at least one vehicle that has been serviced more than once.</a:t>
            </a:r>
          </a:p>
          <a:p>
            <a:pPr algn="just">
              <a:lnSpc>
                <a:spcPts val="4200"/>
              </a:lnSpc>
            </a:pPr>
            <a:r>
              <a:rPr lang="en-US" sz="3000">
                <a:solidFill>
                  <a:srgbClr val="000000"/>
                </a:solidFill>
                <a:latin typeface="Times New Roman MT"/>
                <a:ea typeface="Times New Roman MT"/>
                <a:cs typeface="Times New Roman MT"/>
                <a:sym typeface="Times New Roman MT"/>
              </a:rPr>
              <a:t>SELECT </a:t>
            </a:r>
          </a:p>
          <a:p>
            <a:pPr algn="just">
              <a:lnSpc>
                <a:spcPts val="4200"/>
              </a:lnSpc>
            </a:pPr>
            <a:r>
              <a:rPr lang="en-US" sz="3000">
                <a:solidFill>
                  <a:srgbClr val="000000"/>
                </a:solidFill>
                <a:latin typeface="Times New Roman MT"/>
                <a:ea typeface="Times New Roman MT"/>
                <a:cs typeface="Times New Roman MT"/>
                <a:sym typeface="Times New Roman MT"/>
              </a:rPr>
              <a:t>c.customer_id,</a:t>
            </a:r>
          </a:p>
          <a:p>
            <a:pPr algn="just">
              <a:lnSpc>
                <a:spcPts val="4200"/>
              </a:lnSpc>
            </a:pPr>
            <a:r>
              <a:rPr lang="en-US" sz="3000">
                <a:solidFill>
                  <a:srgbClr val="000000"/>
                </a:solidFill>
                <a:latin typeface="Times New Roman MT"/>
                <a:ea typeface="Times New Roman MT"/>
                <a:cs typeface="Times New Roman MT"/>
                <a:sym typeface="Times New Roman MT"/>
              </a:rPr>
              <a:t>c.name</a:t>
            </a:r>
          </a:p>
          <a:p>
            <a:pPr algn="just">
              <a:lnSpc>
                <a:spcPts val="4200"/>
              </a:lnSpc>
            </a:pPr>
            <a:r>
              <a:rPr lang="en-US" sz="3000">
                <a:solidFill>
                  <a:srgbClr val="000000"/>
                </a:solidFill>
                <a:latin typeface="Times New Roman MT"/>
                <a:ea typeface="Times New Roman MT"/>
                <a:cs typeface="Times New Roman MT"/>
                <a:sym typeface="Times New Roman MT"/>
              </a:rPr>
              <a:t>FROM CUSTOMER c</a:t>
            </a:r>
          </a:p>
          <a:p>
            <a:pPr algn="just">
              <a:lnSpc>
                <a:spcPts val="4200"/>
              </a:lnSpc>
            </a:pPr>
            <a:r>
              <a:rPr lang="en-US" sz="3000">
                <a:solidFill>
                  <a:srgbClr val="000000"/>
                </a:solidFill>
                <a:latin typeface="Times New Roman MT"/>
                <a:ea typeface="Times New Roman MT"/>
                <a:cs typeface="Times New Roman MT"/>
                <a:sym typeface="Times New Roman MT"/>
              </a:rPr>
              <a:t>WHERE EXISTS (</a:t>
            </a:r>
          </a:p>
          <a:p>
            <a:pPr algn="just">
              <a:lnSpc>
                <a:spcPts val="4200"/>
              </a:lnSpc>
            </a:pPr>
            <a:r>
              <a:rPr lang="en-US" sz="3000">
                <a:solidFill>
                  <a:srgbClr val="000000"/>
                </a:solidFill>
                <a:latin typeface="Times New Roman MT"/>
                <a:ea typeface="Times New Roman MT"/>
                <a:cs typeface="Times New Roman MT"/>
                <a:sym typeface="Times New Roman MT"/>
              </a:rPr>
              <a:t>SELECT 1</a:t>
            </a:r>
          </a:p>
          <a:p>
            <a:pPr algn="just">
              <a:lnSpc>
                <a:spcPts val="4200"/>
              </a:lnSpc>
            </a:pPr>
            <a:r>
              <a:rPr lang="en-US" sz="3000">
                <a:solidFill>
                  <a:srgbClr val="000000"/>
                </a:solidFill>
                <a:latin typeface="Times New Roman MT"/>
                <a:ea typeface="Times New Roman MT"/>
                <a:cs typeface="Times New Roman MT"/>
                <a:sym typeface="Times New Roman MT"/>
              </a:rPr>
              <a:t>FROM VEHICLE v</a:t>
            </a:r>
          </a:p>
          <a:p>
            <a:pPr algn="just">
              <a:lnSpc>
                <a:spcPts val="4200"/>
              </a:lnSpc>
            </a:pPr>
            <a:r>
              <a:rPr lang="en-US" sz="3000">
                <a:solidFill>
                  <a:srgbClr val="000000"/>
                </a:solidFill>
                <a:latin typeface="Times New Roman MT"/>
                <a:ea typeface="Times New Roman MT"/>
                <a:cs typeface="Times New Roman MT"/>
                <a:sym typeface="Times New Roman MT"/>
              </a:rPr>
              <a:t>WHERE v.customer_id = c.customer_id</a:t>
            </a:r>
          </a:p>
          <a:p>
            <a:pPr algn="just">
              <a:lnSpc>
                <a:spcPts val="4200"/>
              </a:lnSpc>
            </a:pPr>
            <a:r>
              <a:rPr lang="en-US" sz="3000">
                <a:solidFill>
                  <a:srgbClr val="000000"/>
                </a:solidFill>
                <a:latin typeface="Times New Roman MT"/>
                <a:ea typeface="Times New Roman MT"/>
                <a:cs typeface="Times New Roman MT"/>
                <a:sym typeface="Times New Roman MT"/>
              </a:rPr>
              <a:t>AND (</a:t>
            </a:r>
          </a:p>
          <a:p>
            <a:pPr algn="just">
              <a:lnSpc>
                <a:spcPts val="4200"/>
              </a:lnSpc>
            </a:pPr>
            <a:r>
              <a:rPr lang="en-US" sz="3000">
                <a:solidFill>
                  <a:srgbClr val="000000"/>
                </a:solidFill>
                <a:latin typeface="Times New Roman MT"/>
                <a:ea typeface="Times New Roman MT"/>
                <a:cs typeface="Times New Roman MT"/>
                <a:sym typeface="Times New Roman MT"/>
              </a:rPr>
              <a:t>SELECT COUNT(*)</a:t>
            </a:r>
          </a:p>
          <a:p>
            <a:pPr algn="just">
              <a:lnSpc>
                <a:spcPts val="4200"/>
              </a:lnSpc>
            </a:pPr>
            <a:r>
              <a:rPr lang="en-US" sz="3000">
                <a:solidFill>
                  <a:srgbClr val="000000"/>
                </a:solidFill>
                <a:latin typeface="Times New Roman MT"/>
                <a:ea typeface="Times New Roman MT"/>
                <a:cs typeface="Times New Roman MT"/>
                <a:sym typeface="Times New Roman MT"/>
              </a:rPr>
              <a:t>FROM SERVICE s</a:t>
            </a:r>
          </a:p>
          <a:p>
            <a:pPr algn="just">
              <a:lnSpc>
                <a:spcPts val="4200"/>
              </a:lnSpc>
            </a:pPr>
            <a:r>
              <a:rPr lang="en-US" sz="3000">
                <a:solidFill>
                  <a:srgbClr val="000000"/>
                </a:solidFill>
                <a:latin typeface="Times New Roman MT"/>
                <a:ea typeface="Times New Roman MT"/>
                <a:cs typeface="Times New Roman MT"/>
                <a:sym typeface="Times New Roman MT"/>
              </a:rPr>
              <a:t>WHERE s.vehicle_id = v.vehicle_id</a:t>
            </a:r>
          </a:p>
          <a:p>
            <a:pPr algn="just">
              <a:lnSpc>
                <a:spcPts val="4200"/>
              </a:lnSpc>
            </a:pPr>
            <a:r>
              <a:rPr lang="en-US" sz="3000">
                <a:solidFill>
                  <a:srgbClr val="000000"/>
                </a:solidFill>
                <a:latin typeface="Times New Roman MT"/>
                <a:ea typeface="Times New Roman MT"/>
                <a:cs typeface="Times New Roman MT"/>
                <a:sym typeface="Times New Roman MT"/>
              </a:rPr>
              <a:t>) &gt; 1</a:t>
            </a:r>
          </a:p>
          <a:p>
            <a:pPr algn="just">
              <a:lnSpc>
                <a:spcPts val="4200"/>
              </a:lnSpc>
            </a:pPr>
            <a:r>
              <a:rPr lang="en-US" sz="3000">
                <a:solidFill>
                  <a:srgbClr val="000000"/>
                </a:solidFill>
                <a:latin typeface="Times New Roman MT"/>
                <a:ea typeface="Times New Roman MT"/>
                <a:cs typeface="Times New Roman MT"/>
                <a:sym typeface="Times New Roman MT"/>
              </a:rPr>
              <a:t>);</a:t>
            </a:r>
          </a:p>
          <a:p>
            <a:pPr algn="just">
              <a:lnSpc>
                <a:spcPts val="4200"/>
              </a:lnSpc>
            </a:pPr>
          </a:p>
        </p:txBody>
      </p:sp>
      <p:sp>
        <p:nvSpPr>
          <p:cNvPr name="Freeform 4" id="4"/>
          <p:cNvSpPr/>
          <p:nvPr/>
        </p:nvSpPr>
        <p:spPr>
          <a:xfrm flipH="false" flipV="false" rot="0">
            <a:off x="7805079" y="2293541"/>
            <a:ext cx="10026961" cy="4117030"/>
          </a:xfrm>
          <a:custGeom>
            <a:avLst/>
            <a:gdLst/>
            <a:ahLst/>
            <a:cxnLst/>
            <a:rect r="r" b="b" t="t" l="l"/>
            <a:pathLst>
              <a:path h="4117030" w="10026961">
                <a:moveTo>
                  <a:pt x="0" y="0"/>
                </a:moveTo>
                <a:lnTo>
                  <a:pt x="10026961" y="0"/>
                </a:lnTo>
                <a:lnTo>
                  <a:pt x="10026961" y="4117031"/>
                </a:lnTo>
                <a:lnTo>
                  <a:pt x="0" y="4117031"/>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678748"/>
            <a:ext cx="13090405" cy="6981825"/>
          </a:xfrm>
          <a:prstGeom prst="rect">
            <a:avLst/>
          </a:prstGeom>
        </p:spPr>
        <p:txBody>
          <a:bodyPr anchor="t" rtlCol="false" tIns="0" lIns="0" bIns="0" rIns="0">
            <a:spAutoFit/>
          </a:bodyPr>
          <a:lstStyle/>
          <a:p>
            <a:pPr algn="just">
              <a:lnSpc>
                <a:spcPts val="4200"/>
              </a:lnSpc>
            </a:pPr>
            <a:r>
              <a:rPr lang="en-US" sz="3000">
                <a:solidFill>
                  <a:srgbClr val="000000"/>
                </a:solidFill>
                <a:latin typeface="Times New Roman MT"/>
                <a:ea typeface="Times New Roman MT"/>
                <a:cs typeface="Times New Roman MT"/>
                <a:sym typeface="Times New Roman MT"/>
              </a:rPr>
              <a:t>6</a:t>
            </a:r>
            <a:r>
              <a:rPr lang="en-US" sz="3000">
                <a:solidFill>
                  <a:srgbClr val="000000"/>
                </a:solidFill>
                <a:latin typeface="Times New Roman MT"/>
                <a:ea typeface="Times New Roman MT"/>
                <a:cs typeface="Times New Roman MT"/>
                <a:sym typeface="Times New Roman MT"/>
              </a:rPr>
              <a:t>. BOOLEAN OPERATORS (AND / OR / NOT)</a:t>
            </a:r>
          </a:p>
          <a:p>
            <a:pPr algn="just">
              <a:lnSpc>
                <a:spcPts val="4200"/>
              </a:lnSpc>
            </a:pPr>
            <a:r>
              <a:rPr lang="en-US" sz="3000">
                <a:solidFill>
                  <a:srgbClr val="000000"/>
                </a:solidFill>
                <a:latin typeface="Times New Roman MT"/>
                <a:ea typeface="Times New Roman MT"/>
                <a:cs typeface="Times New Roman MT"/>
                <a:sym typeface="Times New Roman MT"/>
              </a:rPr>
              <a:t>Use case: Find services that are either 'General Service' or 'Oil Change', cost more than 600, and are NOT done by mechanic MEC004.</a:t>
            </a:r>
          </a:p>
          <a:p>
            <a:pPr algn="just">
              <a:lnSpc>
                <a:spcPts val="4200"/>
              </a:lnSpc>
            </a:pPr>
            <a:r>
              <a:rPr lang="en-US" sz="3000">
                <a:solidFill>
                  <a:srgbClr val="000000"/>
                </a:solidFill>
                <a:latin typeface="Times New Roman MT"/>
                <a:ea typeface="Times New Roman MT"/>
                <a:cs typeface="Times New Roman MT"/>
                <a:sym typeface="Times New Roman MT"/>
              </a:rPr>
              <a:t>SELECT </a:t>
            </a:r>
          </a:p>
          <a:p>
            <a:pPr algn="just">
              <a:lnSpc>
                <a:spcPts val="4200"/>
              </a:lnSpc>
            </a:pPr>
            <a:r>
              <a:rPr lang="en-US" sz="3000">
                <a:solidFill>
                  <a:srgbClr val="000000"/>
                </a:solidFill>
                <a:latin typeface="Times New Roman MT"/>
                <a:ea typeface="Times New Roman MT"/>
                <a:cs typeface="Times New Roman MT"/>
                <a:sym typeface="Times New Roman MT"/>
              </a:rPr>
              <a:t>service_id,</a:t>
            </a:r>
          </a:p>
          <a:p>
            <a:pPr algn="just">
              <a:lnSpc>
                <a:spcPts val="4200"/>
              </a:lnSpc>
            </a:pPr>
            <a:r>
              <a:rPr lang="en-US" sz="3000">
                <a:solidFill>
                  <a:srgbClr val="000000"/>
                </a:solidFill>
                <a:latin typeface="Times New Roman MT"/>
                <a:ea typeface="Times New Roman MT"/>
                <a:cs typeface="Times New Roman MT"/>
                <a:sym typeface="Times New Roman MT"/>
              </a:rPr>
              <a:t>service_type,</a:t>
            </a:r>
          </a:p>
          <a:p>
            <a:pPr algn="just">
              <a:lnSpc>
                <a:spcPts val="4200"/>
              </a:lnSpc>
            </a:pPr>
            <a:r>
              <a:rPr lang="en-US" sz="3000">
                <a:solidFill>
                  <a:srgbClr val="000000"/>
                </a:solidFill>
                <a:latin typeface="Times New Roman MT"/>
                <a:ea typeface="Times New Roman MT"/>
                <a:cs typeface="Times New Roman MT"/>
                <a:sym typeface="Times New Roman MT"/>
              </a:rPr>
              <a:t>service_date,</a:t>
            </a:r>
          </a:p>
          <a:p>
            <a:pPr algn="just">
              <a:lnSpc>
                <a:spcPts val="4200"/>
              </a:lnSpc>
            </a:pPr>
            <a:r>
              <a:rPr lang="en-US" sz="3000">
                <a:solidFill>
                  <a:srgbClr val="000000"/>
                </a:solidFill>
                <a:latin typeface="Times New Roman MT"/>
                <a:ea typeface="Times New Roman MT"/>
                <a:cs typeface="Times New Roman MT"/>
                <a:sym typeface="Times New Roman MT"/>
              </a:rPr>
              <a:t>labor_cost,</a:t>
            </a:r>
          </a:p>
          <a:p>
            <a:pPr algn="just">
              <a:lnSpc>
                <a:spcPts val="4200"/>
              </a:lnSpc>
            </a:pPr>
            <a:r>
              <a:rPr lang="en-US" sz="3000">
                <a:solidFill>
                  <a:srgbClr val="000000"/>
                </a:solidFill>
                <a:latin typeface="Times New Roman MT"/>
                <a:ea typeface="Times New Roman MT"/>
                <a:cs typeface="Times New Roman MT"/>
                <a:sym typeface="Times New Roman MT"/>
              </a:rPr>
              <a:t>mechanic_id</a:t>
            </a:r>
          </a:p>
          <a:p>
            <a:pPr algn="just">
              <a:lnSpc>
                <a:spcPts val="4200"/>
              </a:lnSpc>
            </a:pPr>
            <a:r>
              <a:rPr lang="en-US" sz="3000">
                <a:solidFill>
                  <a:srgbClr val="000000"/>
                </a:solidFill>
                <a:latin typeface="Times New Roman MT"/>
                <a:ea typeface="Times New Roman MT"/>
                <a:cs typeface="Times New Roman MT"/>
                <a:sym typeface="Times New Roman MT"/>
              </a:rPr>
              <a:t>FROM SERVICE</a:t>
            </a:r>
          </a:p>
          <a:p>
            <a:pPr algn="just">
              <a:lnSpc>
                <a:spcPts val="4200"/>
              </a:lnSpc>
            </a:pPr>
            <a:r>
              <a:rPr lang="en-US" sz="3000">
                <a:solidFill>
                  <a:srgbClr val="000000"/>
                </a:solidFill>
                <a:latin typeface="Times New Roman MT"/>
                <a:ea typeface="Times New Roman MT"/>
                <a:cs typeface="Times New Roman MT"/>
                <a:sym typeface="Times New Roman MT"/>
              </a:rPr>
              <a:t>WHERE (service_type = 'General Service' OR service_type = 'Oil Change')</a:t>
            </a:r>
          </a:p>
          <a:p>
            <a:pPr algn="just">
              <a:lnSpc>
                <a:spcPts val="4200"/>
              </a:lnSpc>
            </a:pPr>
            <a:r>
              <a:rPr lang="en-US" sz="3000">
                <a:solidFill>
                  <a:srgbClr val="000000"/>
                </a:solidFill>
                <a:latin typeface="Times New Roman MT"/>
                <a:ea typeface="Times New Roman MT"/>
                <a:cs typeface="Times New Roman MT"/>
                <a:sym typeface="Times New Roman MT"/>
              </a:rPr>
              <a:t>AND labor_cost &gt; 600</a:t>
            </a:r>
          </a:p>
          <a:p>
            <a:pPr algn="just">
              <a:lnSpc>
                <a:spcPts val="4200"/>
              </a:lnSpc>
            </a:pPr>
            <a:r>
              <a:rPr lang="en-US" sz="3000">
                <a:solidFill>
                  <a:srgbClr val="000000"/>
                </a:solidFill>
                <a:latin typeface="Times New Roman MT"/>
                <a:ea typeface="Times New Roman MT"/>
                <a:cs typeface="Times New Roman MT"/>
                <a:sym typeface="Times New Roman MT"/>
              </a:rPr>
              <a:t>AND NOT mechanic_id = 'MEC004';</a:t>
            </a:r>
          </a:p>
        </p:txBody>
      </p:sp>
      <p:sp>
        <p:nvSpPr>
          <p:cNvPr name="Freeform 4" id="4"/>
          <p:cNvSpPr/>
          <p:nvPr/>
        </p:nvSpPr>
        <p:spPr>
          <a:xfrm flipH="false" flipV="false" rot="0">
            <a:off x="3955266" y="2405588"/>
            <a:ext cx="13693776" cy="3070863"/>
          </a:xfrm>
          <a:custGeom>
            <a:avLst/>
            <a:gdLst/>
            <a:ahLst/>
            <a:cxnLst/>
            <a:rect r="r" b="b" t="t" l="l"/>
            <a:pathLst>
              <a:path h="3070863" w="13693776">
                <a:moveTo>
                  <a:pt x="0" y="0"/>
                </a:moveTo>
                <a:lnTo>
                  <a:pt x="13693776" y="0"/>
                </a:lnTo>
                <a:lnTo>
                  <a:pt x="13693776" y="3070864"/>
                </a:lnTo>
                <a:lnTo>
                  <a:pt x="0" y="3070864"/>
                </a:lnTo>
                <a:lnTo>
                  <a:pt x="0" y="0"/>
                </a:lnTo>
                <a:close/>
              </a:path>
            </a:pathLst>
          </a:custGeom>
          <a:blipFill>
            <a:blip r:embed="rId3"/>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3559687" y="5899087"/>
            <a:ext cx="13538818" cy="3103583"/>
          </a:xfrm>
          <a:custGeom>
            <a:avLst/>
            <a:gdLst/>
            <a:ahLst/>
            <a:cxnLst/>
            <a:rect r="r" b="b" t="t" l="l"/>
            <a:pathLst>
              <a:path h="3103583" w="13538818">
                <a:moveTo>
                  <a:pt x="0" y="0"/>
                </a:moveTo>
                <a:lnTo>
                  <a:pt x="13538818" y="0"/>
                </a:lnTo>
                <a:lnTo>
                  <a:pt x="13538818" y="3103583"/>
                </a:lnTo>
                <a:lnTo>
                  <a:pt x="0" y="3103583"/>
                </a:lnTo>
                <a:lnTo>
                  <a:pt x="0" y="0"/>
                </a:lnTo>
                <a:close/>
              </a:path>
            </a:pathLst>
          </a:custGeom>
          <a:blipFill>
            <a:blip r:embed="rId3"/>
            <a:stretch>
              <a:fillRect l="0" t="0" r="0" b="0"/>
            </a:stretch>
          </a:blipFill>
        </p:spPr>
      </p:sp>
      <p:sp>
        <p:nvSpPr>
          <p:cNvPr name="TextBox 4" id="4"/>
          <p:cNvSpPr txBox="true"/>
          <p:nvPr/>
        </p:nvSpPr>
        <p:spPr>
          <a:xfrm rot="0">
            <a:off x="953791" y="669532"/>
            <a:ext cx="6656351" cy="5533979"/>
          </a:xfrm>
          <a:prstGeom prst="rect">
            <a:avLst/>
          </a:prstGeom>
        </p:spPr>
        <p:txBody>
          <a:bodyPr anchor="t" rtlCol="false" tIns="0" lIns="0" bIns="0" rIns="0">
            <a:spAutoFit/>
          </a:bodyPr>
          <a:lstStyle/>
          <a:p>
            <a:pPr algn="just">
              <a:lnSpc>
                <a:spcPts val="3607"/>
              </a:lnSpc>
            </a:pPr>
            <a:r>
              <a:rPr lang="en-US" sz="2576">
                <a:solidFill>
                  <a:srgbClr val="000000"/>
                </a:solidFill>
                <a:latin typeface="Times New Roman MT"/>
                <a:ea typeface="Times New Roman MT"/>
                <a:cs typeface="Times New Roman MT"/>
                <a:sym typeface="Times New Roman MT"/>
              </a:rPr>
              <a:t>8</a:t>
            </a:r>
            <a:r>
              <a:rPr lang="en-US" sz="2576">
                <a:solidFill>
                  <a:srgbClr val="000000"/>
                </a:solidFill>
                <a:latin typeface="Times New Roman MT"/>
                <a:ea typeface="Times New Roman MT"/>
                <a:cs typeface="Times New Roman MT"/>
                <a:sym typeface="Times New Roman MT"/>
              </a:rPr>
              <a:t>. STRING OPERATORS (LIKE / ILIKE)</a:t>
            </a:r>
          </a:p>
          <a:p>
            <a:pPr algn="just">
              <a:lnSpc>
                <a:spcPts val="3607"/>
              </a:lnSpc>
            </a:pPr>
            <a:r>
              <a:rPr lang="en-US" sz="2576">
                <a:solidFill>
                  <a:srgbClr val="000000"/>
                </a:solidFill>
                <a:latin typeface="Times New Roman MT"/>
                <a:ea typeface="Times New Roman MT"/>
                <a:cs typeface="Times New Roman MT"/>
                <a:sym typeface="Times New Roman MT"/>
              </a:rPr>
              <a:t>Use case: Search for spare parts whose name contains the word 'Filter' (case-insensitive search).</a:t>
            </a:r>
          </a:p>
          <a:p>
            <a:pPr algn="just">
              <a:lnSpc>
                <a:spcPts val="3607"/>
              </a:lnSpc>
            </a:pPr>
            <a:r>
              <a:rPr lang="en-US" sz="2576">
                <a:solidFill>
                  <a:srgbClr val="000000"/>
                </a:solidFill>
                <a:latin typeface="Times New Roman MT"/>
                <a:ea typeface="Times New Roman MT"/>
                <a:cs typeface="Times New Roman MT"/>
                <a:sym typeface="Times New Roman MT"/>
              </a:rPr>
              <a:t>SELECT </a:t>
            </a:r>
          </a:p>
          <a:p>
            <a:pPr algn="just">
              <a:lnSpc>
                <a:spcPts val="3607"/>
              </a:lnSpc>
            </a:pPr>
            <a:r>
              <a:rPr lang="en-US" sz="2576">
                <a:solidFill>
                  <a:srgbClr val="000000"/>
                </a:solidFill>
                <a:latin typeface="Times New Roman MT"/>
                <a:ea typeface="Times New Roman MT"/>
                <a:cs typeface="Times New Roman MT"/>
                <a:sym typeface="Times New Roman MT"/>
              </a:rPr>
              <a:t>part_id,</a:t>
            </a:r>
          </a:p>
          <a:p>
            <a:pPr algn="just">
              <a:lnSpc>
                <a:spcPts val="3607"/>
              </a:lnSpc>
            </a:pPr>
            <a:r>
              <a:rPr lang="en-US" sz="2576">
                <a:solidFill>
                  <a:srgbClr val="000000"/>
                </a:solidFill>
                <a:latin typeface="Times New Roman MT"/>
                <a:ea typeface="Times New Roman MT"/>
                <a:cs typeface="Times New Roman MT"/>
                <a:sym typeface="Times New Roman MT"/>
              </a:rPr>
              <a:t>part_name,</a:t>
            </a:r>
          </a:p>
          <a:p>
            <a:pPr algn="just">
              <a:lnSpc>
                <a:spcPts val="3607"/>
              </a:lnSpc>
            </a:pPr>
            <a:r>
              <a:rPr lang="en-US" sz="2576">
                <a:solidFill>
                  <a:srgbClr val="000000"/>
                </a:solidFill>
                <a:latin typeface="Times New Roman MT"/>
                <a:ea typeface="Times New Roman MT"/>
                <a:cs typeface="Times New Roman MT"/>
                <a:sym typeface="Times New Roman MT"/>
              </a:rPr>
              <a:t>price,</a:t>
            </a:r>
          </a:p>
          <a:p>
            <a:pPr algn="just">
              <a:lnSpc>
                <a:spcPts val="3607"/>
              </a:lnSpc>
            </a:pPr>
            <a:r>
              <a:rPr lang="en-US" sz="2576">
                <a:solidFill>
                  <a:srgbClr val="000000"/>
                </a:solidFill>
                <a:latin typeface="Times New Roman MT"/>
                <a:ea typeface="Times New Roman MT"/>
                <a:cs typeface="Times New Roman MT"/>
                <a:sym typeface="Times New Roman MT"/>
              </a:rPr>
              <a:t>supplier_id</a:t>
            </a:r>
          </a:p>
          <a:p>
            <a:pPr algn="just">
              <a:lnSpc>
                <a:spcPts val="3607"/>
              </a:lnSpc>
            </a:pPr>
            <a:r>
              <a:rPr lang="en-US" sz="2576">
                <a:solidFill>
                  <a:srgbClr val="000000"/>
                </a:solidFill>
                <a:latin typeface="Times New Roman MT"/>
                <a:ea typeface="Times New Roman MT"/>
                <a:cs typeface="Times New Roman MT"/>
                <a:sym typeface="Times New Roman MT"/>
              </a:rPr>
              <a:t>FROM SPAREPARTS</a:t>
            </a:r>
          </a:p>
          <a:p>
            <a:pPr algn="just">
              <a:lnSpc>
                <a:spcPts val="3607"/>
              </a:lnSpc>
            </a:pPr>
            <a:r>
              <a:rPr lang="en-US" sz="2576">
                <a:solidFill>
                  <a:srgbClr val="000000"/>
                </a:solidFill>
                <a:latin typeface="Times New Roman MT"/>
                <a:ea typeface="Times New Roman MT"/>
                <a:cs typeface="Times New Roman MT"/>
                <a:sym typeface="Times New Roman MT"/>
              </a:rPr>
              <a:t>WHERE part_name ILIKE '%filter%';</a:t>
            </a:r>
          </a:p>
          <a:p>
            <a:pPr algn="just">
              <a:lnSpc>
                <a:spcPts val="3747"/>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TextBox 3" id="3"/>
          <p:cNvSpPr txBox="true"/>
          <p:nvPr/>
        </p:nvSpPr>
        <p:spPr>
          <a:xfrm rot="0">
            <a:off x="953791" y="660007"/>
            <a:ext cx="15828936" cy="6063569"/>
          </a:xfrm>
          <a:prstGeom prst="rect">
            <a:avLst/>
          </a:prstGeom>
        </p:spPr>
        <p:txBody>
          <a:bodyPr anchor="t" rtlCol="false" tIns="0" lIns="0" bIns="0" rIns="0">
            <a:spAutoFit/>
          </a:bodyPr>
          <a:lstStyle/>
          <a:p>
            <a:pPr algn="just">
              <a:lnSpc>
                <a:spcPts val="4027"/>
              </a:lnSpc>
            </a:pPr>
            <a:r>
              <a:rPr lang="en-US" sz="2876">
                <a:solidFill>
                  <a:srgbClr val="000000"/>
                </a:solidFill>
                <a:latin typeface="Times New Roman MT"/>
                <a:ea typeface="Times New Roman MT"/>
                <a:cs typeface="Times New Roman MT"/>
                <a:sym typeface="Times New Roman MT"/>
              </a:rPr>
              <a:t>9</a:t>
            </a:r>
            <a:r>
              <a:rPr lang="en-US" sz="2876">
                <a:solidFill>
                  <a:srgbClr val="000000"/>
                </a:solidFill>
                <a:latin typeface="Times New Roman MT"/>
                <a:ea typeface="Times New Roman MT"/>
                <a:cs typeface="Times New Roman MT"/>
                <a:sym typeface="Times New Roman MT"/>
              </a:rPr>
              <a:t>. TO_CHAR AND EXTRACT</a:t>
            </a:r>
          </a:p>
          <a:p>
            <a:pPr algn="just">
              <a:lnSpc>
                <a:spcPts val="4027"/>
              </a:lnSpc>
            </a:pPr>
            <a:r>
              <a:rPr lang="en-US" sz="2876">
                <a:solidFill>
                  <a:srgbClr val="000000"/>
                </a:solidFill>
                <a:latin typeface="Times New Roman MT"/>
                <a:ea typeface="Times New Roman MT"/>
                <a:cs typeface="Times New Roman MT"/>
                <a:sym typeface="Times New Roman MT"/>
              </a:rPr>
              <a:t>Use case: Display service month, year and day of week for all services to analyse peak service periods.</a:t>
            </a:r>
          </a:p>
          <a:p>
            <a:pPr algn="just">
              <a:lnSpc>
                <a:spcPts val="4027"/>
              </a:lnSpc>
            </a:pPr>
            <a:r>
              <a:rPr lang="en-US" sz="2876">
                <a:solidFill>
                  <a:srgbClr val="000000"/>
                </a:solidFill>
                <a:latin typeface="Times New Roman MT"/>
                <a:ea typeface="Times New Roman MT"/>
                <a:cs typeface="Times New Roman MT"/>
                <a:sym typeface="Times New Roman MT"/>
              </a:rPr>
              <a:t>SELECT </a:t>
            </a:r>
          </a:p>
          <a:p>
            <a:pPr algn="just">
              <a:lnSpc>
                <a:spcPts val="4027"/>
              </a:lnSpc>
            </a:pPr>
            <a:r>
              <a:rPr lang="en-US" sz="2876">
                <a:solidFill>
                  <a:srgbClr val="000000"/>
                </a:solidFill>
                <a:latin typeface="Times New Roman MT"/>
                <a:ea typeface="Times New Roman MT"/>
                <a:cs typeface="Times New Roman MT"/>
                <a:sym typeface="Times New Roman MT"/>
              </a:rPr>
              <a:t>service_id,</a:t>
            </a:r>
          </a:p>
          <a:p>
            <a:pPr algn="just">
              <a:lnSpc>
                <a:spcPts val="4027"/>
              </a:lnSpc>
            </a:pPr>
            <a:r>
              <a:rPr lang="en-US" sz="2876">
                <a:solidFill>
                  <a:srgbClr val="000000"/>
                </a:solidFill>
                <a:latin typeface="Times New Roman MT"/>
                <a:ea typeface="Times New Roman MT"/>
                <a:cs typeface="Times New Roman MT"/>
                <a:sym typeface="Times New Roman MT"/>
              </a:rPr>
              <a:t>service_date,</a:t>
            </a:r>
          </a:p>
          <a:p>
            <a:pPr algn="just">
              <a:lnSpc>
                <a:spcPts val="4027"/>
              </a:lnSpc>
            </a:pPr>
            <a:r>
              <a:rPr lang="en-US" sz="2876">
                <a:solidFill>
                  <a:srgbClr val="000000"/>
                </a:solidFill>
                <a:latin typeface="Times New Roman MT"/>
                <a:ea typeface="Times New Roman MT"/>
                <a:cs typeface="Times New Roman MT"/>
                <a:sym typeface="Times New Roman MT"/>
              </a:rPr>
              <a:t>TO_CHAR(service_date, 'Month YYYY') AS service_month_year,</a:t>
            </a:r>
          </a:p>
          <a:p>
            <a:pPr algn="just">
              <a:lnSpc>
                <a:spcPts val="4027"/>
              </a:lnSpc>
            </a:pPr>
            <a:r>
              <a:rPr lang="en-US" sz="2876">
                <a:solidFill>
                  <a:srgbClr val="000000"/>
                </a:solidFill>
                <a:latin typeface="Times New Roman MT"/>
                <a:ea typeface="Times New Roman MT"/>
                <a:cs typeface="Times New Roman MT"/>
                <a:sym typeface="Times New Roman MT"/>
              </a:rPr>
              <a:t>TO_CHAR(service_date, 'Day') AS day_of_week,</a:t>
            </a:r>
          </a:p>
          <a:p>
            <a:pPr algn="just">
              <a:lnSpc>
                <a:spcPts val="4027"/>
              </a:lnSpc>
            </a:pPr>
            <a:r>
              <a:rPr lang="en-US" sz="2876">
                <a:solidFill>
                  <a:srgbClr val="000000"/>
                </a:solidFill>
                <a:latin typeface="Times New Roman MT"/>
                <a:ea typeface="Times New Roman MT"/>
                <a:cs typeface="Times New Roman MT"/>
                <a:sym typeface="Times New Roman MT"/>
              </a:rPr>
              <a:t>EXTRACT(MONTH FROM service_date) AS month_number,</a:t>
            </a:r>
          </a:p>
          <a:p>
            <a:pPr algn="just">
              <a:lnSpc>
                <a:spcPts val="4027"/>
              </a:lnSpc>
            </a:pPr>
            <a:r>
              <a:rPr lang="en-US" sz="2876">
                <a:solidFill>
                  <a:srgbClr val="000000"/>
                </a:solidFill>
                <a:latin typeface="Times New Roman MT"/>
                <a:ea typeface="Times New Roman MT"/>
                <a:cs typeface="Times New Roman MT"/>
                <a:sym typeface="Times New Roman MT"/>
              </a:rPr>
              <a:t>EXTRACT(YEAR FROM service_date) AS year_number</a:t>
            </a:r>
          </a:p>
          <a:p>
            <a:pPr algn="just">
              <a:lnSpc>
                <a:spcPts val="4027"/>
              </a:lnSpc>
            </a:pPr>
            <a:r>
              <a:rPr lang="en-US" sz="2876">
                <a:solidFill>
                  <a:srgbClr val="000000"/>
                </a:solidFill>
                <a:latin typeface="Times New Roman MT"/>
                <a:ea typeface="Times New Roman MT"/>
                <a:cs typeface="Times New Roman MT"/>
                <a:sym typeface="Times New Roman MT"/>
              </a:rPr>
              <a:t>FROM SERVICE</a:t>
            </a:r>
          </a:p>
          <a:p>
            <a:pPr algn="just">
              <a:lnSpc>
                <a:spcPts val="4027"/>
              </a:lnSpc>
            </a:pPr>
            <a:r>
              <a:rPr lang="en-US" sz="2876">
                <a:solidFill>
                  <a:srgbClr val="000000"/>
                </a:solidFill>
                <a:latin typeface="Times New Roman MT"/>
                <a:ea typeface="Times New Roman MT"/>
                <a:cs typeface="Times New Roman MT"/>
                <a:sym typeface="Times New Roman MT"/>
              </a:rPr>
              <a:t>ORDER BY service_date;</a:t>
            </a:r>
          </a:p>
          <a:p>
            <a:pPr algn="just">
              <a:lnSpc>
                <a:spcPts val="3747"/>
              </a:lnSpc>
            </a:pPr>
          </a:p>
        </p:txBody>
      </p:sp>
      <p:sp>
        <p:nvSpPr>
          <p:cNvPr name="Freeform 4" id="4"/>
          <p:cNvSpPr/>
          <p:nvPr/>
        </p:nvSpPr>
        <p:spPr>
          <a:xfrm flipH="false" flipV="false" rot="0">
            <a:off x="5189759" y="5317621"/>
            <a:ext cx="12224523" cy="3940679"/>
          </a:xfrm>
          <a:custGeom>
            <a:avLst/>
            <a:gdLst/>
            <a:ahLst/>
            <a:cxnLst/>
            <a:rect r="r" b="b" t="t" l="l"/>
            <a:pathLst>
              <a:path h="3940679" w="12224523">
                <a:moveTo>
                  <a:pt x="0" y="0"/>
                </a:moveTo>
                <a:lnTo>
                  <a:pt x="12224523" y="0"/>
                </a:lnTo>
                <a:lnTo>
                  <a:pt x="12224523" y="3940679"/>
                </a:lnTo>
                <a:lnTo>
                  <a:pt x="0" y="3940679"/>
                </a:lnTo>
                <a:lnTo>
                  <a:pt x="0" y="0"/>
                </a:lnTo>
                <a:close/>
              </a:path>
            </a:pathLst>
          </a:custGeom>
          <a:blipFill>
            <a:blip r:embed="rId3"/>
            <a:stretch>
              <a:fillRect l="0" t="-2045" r="0" b="-2045"/>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160724" y="2319841"/>
            <a:ext cx="11700327" cy="3090286"/>
          </a:xfrm>
          <a:custGeom>
            <a:avLst/>
            <a:gdLst/>
            <a:ahLst/>
            <a:cxnLst/>
            <a:rect r="r" b="b" t="t" l="l"/>
            <a:pathLst>
              <a:path h="3090286" w="11700327">
                <a:moveTo>
                  <a:pt x="0" y="0"/>
                </a:moveTo>
                <a:lnTo>
                  <a:pt x="11700327" y="0"/>
                </a:lnTo>
                <a:lnTo>
                  <a:pt x="11700327" y="3090285"/>
                </a:lnTo>
                <a:lnTo>
                  <a:pt x="0" y="3090285"/>
                </a:lnTo>
                <a:lnTo>
                  <a:pt x="0" y="0"/>
                </a:lnTo>
                <a:close/>
              </a:path>
            </a:pathLst>
          </a:custGeom>
          <a:blipFill>
            <a:blip r:embed="rId3"/>
            <a:stretch>
              <a:fillRect l="0" t="0" r="0" b="0"/>
            </a:stretch>
          </a:blipFill>
        </p:spPr>
      </p:sp>
      <p:sp>
        <p:nvSpPr>
          <p:cNvPr name="TextBox 4" id="4"/>
          <p:cNvSpPr txBox="true"/>
          <p:nvPr/>
        </p:nvSpPr>
        <p:spPr>
          <a:xfrm rot="0">
            <a:off x="953791" y="669532"/>
            <a:ext cx="10348230" cy="6570934"/>
          </a:xfrm>
          <a:prstGeom prst="rect">
            <a:avLst/>
          </a:prstGeom>
        </p:spPr>
        <p:txBody>
          <a:bodyPr anchor="t" rtlCol="false" tIns="0" lIns="0" bIns="0" rIns="0">
            <a:spAutoFit/>
          </a:bodyPr>
          <a:lstStyle/>
          <a:p>
            <a:pPr algn="just">
              <a:lnSpc>
                <a:spcPts val="3747"/>
              </a:lnSpc>
            </a:pPr>
            <a:r>
              <a:rPr lang="en-US" sz="2676">
                <a:solidFill>
                  <a:srgbClr val="000000"/>
                </a:solidFill>
                <a:latin typeface="Times New Roman MT"/>
                <a:ea typeface="Times New Roman MT"/>
                <a:cs typeface="Times New Roman MT"/>
                <a:sym typeface="Times New Roman MT"/>
              </a:rPr>
              <a:t>10</a:t>
            </a:r>
            <a:r>
              <a:rPr lang="en-US" sz="2676">
                <a:solidFill>
                  <a:srgbClr val="000000"/>
                </a:solidFill>
                <a:latin typeface="Times New Roman MT"/>
                <a:ea typeface="Times New Roman MT"/>
                <a:cs typeface="Times New Roman MT"/>
                <a:sym typeface="Times New Roman MT"/>
              </a:rPr>
              <a:t>. BETWEEN, IN, NOT BETWEEN, NOT IN</a:t>
            </a:r>
          </a:p>
          <a:p>
            <a:pPr algn="just">
              <a:lnSpc>
                <a:spcPts val="3747"/>
              </a:lnSpc>
            </a:pPr>
            <a:r>
              <a:rPr lang="en-US" sz="2676">
                <a:solidFill>
                  <a:srgbClr val="000000"/>
                </a:solidFill>
                <a:latin typeface="Times New Roman MT"/>
                <a:ea typeface="Times New Roman MT"/>
                <a:cs typeface="Times New Roman MT"/>
                <a:sym typeface="Times New Roman MT"/>
              </a:rPr>
              <a:t>Use case: Find spare parts whose price is between 100 and 500,supplied by specific suppliers, and exclude parts</a:t>
            </a:r>
          </a:p>
          <a:p>
            <a:pPr algn="just">
              <a:lnSpc>
                <a:spcPts val="3747"/>
              </a:lnSpc>
            </a:pPr>
            <a:r>
              <a:rPr lang="en-US" sz="2676">
                <a:solidFill>
                  <a:srgbClr val="000000"/>
                </a:solidFill>
                <a:latin typeface="Times New Roman MT"/>
                <a:ea typeface="Times New Roman MT"/>
                <a:cs typeface="Times New Roman MT"/>
                <a:sym typeface="Times New Roman MT"/>
              </a:rPr>
              <a:t>-- with price between 300 and 400.</a:t>
            </a:r>
          </a:p>
          <a:p>
            <a:pPr algn="just">
              <a:lnSpc>
                <a:spcPts val="3747"/>
              </a:lnSpc>
            </a:pPr>
            <a:r>
              <a:rPr lang="en-US" sz="2676">
                <a:solidFill>
                  <a:srgbClr val="000000"/>
                </a:solidFill>
                <a:latin typeface="Times New Roman MT"/>
                <a:ea typeface="Times New Roman MT"/>
                <a:cs typeface="Times New Roman MT"/>
                <a:sym typeface="Times New Roman MT"/>
              </a:rPr>
              <a:t>SELECT </a:t>
            </a:r>
          </a:p>
          <a:p>
            <a:pPr algn="just">
              <a:lnSpc>
                <a:spcPts val="3747"/>
              </a:lnSpc>
            </a:pPr>
            <a:r>
              <a:rPr lang="en-US" sz="2676">
                <a:solidFill>
                  <a:srgbClr val="000000"/>
                </a:solidFill>
                <a:latin typeface="Times New Roman MT"/>
                <a:ea typeface="Times New Roman MT"/>
                <a:cs typeface="Times New Roman MT"/>
                <a:sym typeface="Times New Roman MT"/>
              </a:rPr>
              <a:t>part_id,</a:t>
            </a:r>
          </a:p>
          <a:p>
            <a:pPr algn="just">
              <a:lnSpc>
                <a:spcPts val="3747"/>
              </a:lnSpc>
            </a:pPr>
            <a:r>
              <a:rPr lang="en-US" sz="2676">
                <a:solidFill>
                  <a:srgbClr val="000000"/>
                </a:solidFill>
                <a:latin typeface="Times New Roman MT"/>
                <a:ea typeface="Times New Roman MT"/>
                <a:cs typeface="Times New Roman MT"/>
                <a:sym typeface="Times New Roman MT"/>
              </a:rPr>
              <a:t>part_name,</a:t>
            </a:r>
          </a:p>
          <a:p>
            <a:pPr algn="just">
              <a:lnSpc>
                <a:spcPts val="3747"/>
              </a:lnSpc>
            </a:pPr>
            <a:r>
              <a:rPr lang="en-US" sz="2676">
                <a:solidFill>
                  <a:srgbClr val="000000"/>
                </a:solidFill>
                <a:latin typeface="Times New Roman MT"/>
                <a:ea typeface="Times New Roman MT"/>
                <a:cs typeface="Times New Roman MT"/>
                <a:sym typeface="Times New Roman MT"/>
              </a:rPr>
              <a:t>price,</a:t>
            </a:r>
          </a:p>
          <a:p>
            <a:pPr algn="just">
              <a:lnSpc>
                <a:spcPts val="3747"/>
              </a:lnSpc>
            </a:pPr>
            <a:r>
              <a:rPr lang="en-US" sz="2676">
                <a:solidFill>
                  <a:srgbClr val="000000"/>
                </a:solidFill>
                <a:latin typeface="Times New Roman MT"/>
                <a:ea typeface="Times New Roman MT"/>
                <a:cs typeface="Times New Roman MT"/>
                <a:sym typeface="Times New Roman MT"/>
              </a:rPr>
              <a:t>supplier_id</a:t>
            </a:r>
          </a:p>
          <a:p>
            <a:pPr algn="just">
              <a:lnSpc>
                <a:spcPts val="3747"/>
              </a:lnSpc>
            </a:pPr>
            <a:r>
              <a:rPr lang="en-US" sz="2676">
                <a:solidFill>
                  <a:srgbClr val="000000"/>
                </a:solidFill>
                <a:latin typeface="Times New Roman MT"/>
                <a:ea typeface="Times New Roman MT"/>
                <a:cs typeface="Times New Roman MT"/>
                <a:sym typeface="Times New Roman MT"/>
              </a:rPr>
              <a:t>FROM SPAREPARTS</a:t>
            </a:r>
          </a:p>
          <a:p>
            <a:pPr algn="just">
              <a:lnSpc>
                <a:spcPts val="3747"/>
              </a:lnSpc>
            </a:pPr>
            <a:r>
              <a:rPr lang="en-US" sz="2676">
                <a:solidFill>
                  <a:srgbClr val="000000"/>
                </a:solidFill>
                <a:latin typeface="Times New Roman MT"/>
                <a:ea typeface="Times New Roman MT"/>
                <a:cs typeface="Times New Roman MT"/>
                <a:sym typeface="Times New Roman MT"/>
              </a:rPr>
              <a:t>WHERE price BETWEEN 100 AND 500</a:t>
            </a:r>
          </a:p>
          <a:p>
            <a:pPr algn="just">
              <a:lnSpc>
                <a:spcPts val="3747"/>
              </a:lnSpc>
            </a:pPr>
            <a:r>
              <a:rPr lang="en-US" sz="2676">
                <a:solidFill>
                  <a:srgbClr val="000000"/>
                </a:solidFill>
                <a:latin typeface="Times New Roman MT"/>
                <a:ea typeface="Times New Roman MT"/>
                <a:cs typeface="Times New Roman MT"/>
                <a:sym typeface="Times New Roman MT"/>
              </a:rPr>
              <a:t>AND supplier_id IN ('SUP001', 'SUP002')</a:t>
            </a:r>
          </a:p>
          <a:p>
            <a:pPr algn="just">
              <a:lnSpc>
                <a:spcPts val="3747"/>
              </a:lnSpc>
            </a:pPr>
            <a:r>
              <a:rPr lang="en-US" sz="2676">
                <a:solidFill>
                  <a:srgbClr val="000000"/>
                </a:solidFill>
                <a:latin typeface="Times New Roman MT"/>
                <a:ea typeface="Times New Roman MT"/>
                <a:cs typeface="Times New Roman MT"/>
                <a:sym typeface="Times New Roman MT"/>
              </a:rPr>
              <a:t>AND price NOT BETWEEN 300 AND 400</a:t>
            </a:r>
          </a:p>
          <a:p>
            <a:pPr algn="just">
              <a:lnSpc>
                <a:spcPts val="3747"/>
              </a:lnSpc>
            </a:pPr>
            <a:r>
              <a:rPr lang="en-US" sz="2676">
                <a:solidFill>
                  <a:srgbClr val="000000"/>
                </a:solidFill>
                <a:latin typeface="Times New Roman MT"/>
                <a:ea typeface="Times New Roman MT"/>
                <a:cs typeface="Times New Roman MT"/>
                <a:sym typeface="Times New Roman MT"/>
              </a:rPr>
              <a:t>AND part_id NOT IN ('P999');</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6160724" y="2319841"/>
            <a:ext cx="11700327" cy="3090286"/>
          </a:xfrm>
          <a:custGeom>
            <a:avLst/>
            <a:gdLst/>
            <a:ahLst/>
            <a:cxnLst/>
            <a:rect r="r" b="b" t="t" l="l"/>
            <a:pathLst>
              <a:path h="3090286" w="11700327">
                <a:moveTo>
                  <a:pt x="0" y="0"/>
                </a:moveTo>
                <a:lnTo>
                  <a:pt x="11700327" y="0"/>
                </a:lnTo>
                <a:lnTo>
                  <a:pt x="11700327" y="3090285"/>
                </a:lnTo>
                <a:lnTo>
                  <a:pt x="0" y="3090285"/>
                </a:lnTo>
                <a:lnTo>
                  <a:pt x="0" y="0"/>
                </a:lnTo>
                <a:close/>
              </a:path>
            </a:pathLst>
          </a:custGeom>
          <a:blipFill>
            <a:blip r:embed="rId3"/>
            <a:stretch>
              <a:fillRect l="0" t="0" r="0" b="0"/>
            </a:stretch>
          </a:blipFill>
        </p:spPr>
      </p:sp>
      <p:sp>
        <p:nvSpPr>
          <p:cNvPr name="TextBox 4" id="4"/>
          <p:cNvSpPr txBox="true"/>
          <p:nvPr/>
        </p:nvSpPr>
        <p:spPr>
          <a:xfrm rot="0">
            <a:off x="953791" y="669532"/>
            <a:ext cx="10348230" cy="6570934"/>
          </a:xfrm>
          <a:prstGeom prst="rect">
            <a:avLst/>
          </a:prstGeom>
        </p:spPr>
        <p:txBody>
          <a:bodyPr anchor="t" rtlCol="false" tIns="0" lIns="0" bIns="0" rIns="0">
            <a:spAutoFit/>
          </a:bodyPr>
          <a:lstStyle/>
          <a:p>
            <a:pPr algn="just">
              <a:lnSpc>
                <a:spcPts val="3747"/>
              </a:lnSpc>
            </a:pPr>
            <a:r>
              <a:rPr lang="en-US" sz="2676">
                <a:solidFill>
                  <a:srgbClr val="000000"/>
                </a:solidFill>
                <a:latin typeface="Times New Roman MT"/>
                <a:ea typeface="Times New Roman MT"/>
                <a:cs typeface="Times New Roman MT"/>
                <a:sym typeface="Times New Roman MT"/>
              </a:rPr>
              <a:t>10</a:t>
            </a:r>
            <a:r>
              <a:rPr lang="en-US" sz="2676">
                <a:solidFill>
                  <a:srgbClr val="000000"/>
                </a:solidFill>
                <a:latin typeface="Times New Roman MT"/>
                <a:ea typeface="Times New Roman MT"/>
                <a:cs typeface="Times New Roman MT"/>
                <a:sym typeface="Times New Roman MT"/>
              </a:rPr>
              <a:t>. BETWEEN, IN, NOT BETWEEN, NOT IN</a:t>
            </a:r>
          </a:p>
          <a:p>
            <a:pPr algn="just">
              <a:lnSpc>
                <a:spcPts val="3747"/>
              </a:lnSpc>
            </a:pPr>
            <a:r>
              <a:rPr lang="en-US" sz="2676">
                <a:solidFill>
                  <a:srgbClr val="000000"/>
                </a:solidFill>
                <a:latin typeface="Times New Roman MT"/>
                <a:ea typeface="Times New Roman MT"/>
                <a:cs typeface="Times New Roman MT"/>
                <a:sym typeface="Times New Roman MT"/>
              </a:rPr>
              <a:t>Use case: Find spare parts whose price is between 100 and 500,supplied by specific suppliers, and exclude parts</a:t>
            </a:r>
          </a:p>
          <a:p>
            <a:pPr algn="just">
              <a:lnSpc>
                <a:spcPts val="3747"/>
              </a:lnSpc>
            </a:pPr>
            <a:r>
              <a:rPr lang="en-US" sz="2676">
                <a:solidFill>
                  <a:srgbClr val="000000"/>
                </a:solidFill>
                <a:latin typeface="Times New Roman MT"/>
                <a:ea typeface="Times New Roman MT"/>
                <a:cs typeface="Times New Roman MT"/>
                <a:sym typeface="Times New Roman MT"/>
              </a:rPr>
              <a:t>-- with price between 300 and 400.</a:t>
            </a:r>
          </a:p>
          <a:p>
            <a:pPr algn="just">
              <a:lnSpc>
                <a:spcPts val="3747"/>
              </a:lnSpc>
            </a:pPr>
            <a:r>
              <a:rPr lang="en-US" sz="2676">
                <a:solidFill>
                  <a:srgbClr val="000000"/>
                </a:solidFill>
                <a:latin typeface="Times New Roman MT"/>
                <a:ea typeface="Times New Roman MT"/>
                <a:cs typeface="Times New Roman MT"/>
                <a:sym typeface="Times New Roman MT"/>
              </a:rPr>
              <a:t>SELECT </a:t>
            </a:r>
          </a:p>
          <a:p>
            <a:pPr algn="just">
              <a:lnSpc>
                <a:spcPts val="3747"/>
              </a:lnSpc>
            </a:pPr>
            <a:r>
              <a:rPr lang="en-US" sz="2676">
                <a:solidFill>
                  <a:srgbClr val="000000"/>
                </a:solidFill>
                <a:latin typeface="Times New Roman MT"/>
                <a:ea typeface="Times New Roman MT"/>
                <a:cs typeface="Times New Roman MT"/>
                <a:sym typeface="Times New Roman MT"/>
              </a:rPr>
              <a:t>part_id,</a:t>
            </a:r>
          </a:p>
          <a:p>
            <a:pPr algn="just">
              <a:lnSpc>
                <a:spcPts val="3747"/>
              </a:lnSpc>
            </a:pPr>
            <a:r>
              <a:rPr lang="en-US" sz="2676">
                <a:solidFill>
                  <a:srgbClr val="000000"/>
                </a:solidFill>
                <a:latin typeface="Times New Roman MT"/>
                <a:ea typeface="Times New Roman MT"/>
                <a:cs typeface="Times New Roman MT"/>
                <a:sym typeface="Times New Roman MT"/>
              </a:rPr>
              <a:t>part_name,</a:t>
            </a:r>
          </a:p>
          <a:p>
            <a:pPr algn="just">
              <a:lnSpc>
                <a:spcPts val="3747"/>
              </a:lnSpc>
            </a:pPr>
            <a:r>
              <a:rPr lang="en-US" sz="2676">
                <a:solidFill>
                  <a:srgbClr val="000000"/>
                </a:solidFill>
                <a:latin typeface="Times New Roman MT"/>
                <a:ea typeface="Times New Roman MT"/>
                <a:cs typeface="Times New Roman MT"/>
                <a:sym typeface="Times New Roman MT"/>
              </a:rPr>
              <a:t>price,</a:t>
            </a:r>
          </a:p>
          <a:p>
            <a:pPr algn="just">
              <a:lnSpc>
                <a:spcPts val="3747"/>
              </a:lnSpc>
            </a:pPr>
            <a:r>
              <a:rPr lang="en-US" sz="2676">
                <a:solidFill>
                  <a:srgbClr val="000000"/>
                </a:solidFill>
                <a:latin typeface="Times New Roman MT"/>
                <a:ea typeface="Times New Roman MT"/>
                <a:cs typeface="Times New Roman MT"/>
                <a:sym typeface="Times New Roman MT"/>
              </a:rPr>
              <a:t>supplier_id</a:t>
            </a:r>
          </a:p>
          <a:p>
            <a:pPr algn="just">
              <a:lnSpc>
                <a:spcPts val="3747"/>
              </a:lnSpc>
            </a:pPr>
            <a:r>
              <a:rPr lang="en-US" sz="2676">
                <a:solidFill>
                  <a:srgbClr val="000000"/>
                </a:solidFill>
                <a:latin typeface="Times New Roman MT"/>
                <a:ea typeface="Times New Roman MT"/>
                <a:cs typeface="Times New Roman MT"/>
                <a:sym typeface="Times New Roman MT"/>
              </a:rPr>
              <a:t>FROM SPAREPARTS</a:t>
            </a:r>
          </a:p>
          <a:p>
            <a:pPr algn="just">
              <a:lnSpc>
                <a:spcPts val="3747"/>
              </a:lnSpc>
            </a:pPr>
            <a:r>
              <a:rPr lang="en-US" sz="2676">
                <a:solidFill>
                  <a:srgbClr val="000000"/>
                </a:solidFill>
                <a:latin typeface="Times New Roman MT"/>
                <a:ea typeface="Times New Roman MT"/>
                <a:cs typeface="Times New Roman MT"/>
                <a:sym typeface="Times New Roman MT"/>
              </a:rPr>
              <a:t>WHERE price BETWEEN 100 AND 500</a:t>
            </a:r>
          </a:p>
          <a:p>
            <a:pPr algn="just">
              <a:lnSpc>
                <a:spcPts val="3747"/>
              </a:lnSpc>
            </a:pPr>
            <a:r>
              <a:rPr lang="en-US" sz="2676">
                <a:solidFill>
                  <a:srgbClr val="000000"/>
                </a:solidFill>
                <a:latin typeface="Times New Roman MT"/>
                <a:ea typeface="Times New Roman MT"/>
                <a:cs typeface="Times New Roman MT"/>
                <a:sym typeface="Times New Roman MT"/>
              </a:rPr>
              <a:t>AND supplier_id IN ('SUP001', 'SUP002')</a:t>
            </a:r>
          </a:p>
          <a:p>
            <a:pPr algn="just">
              <a:lnSpc>
                <a:spcPts val="3747"/>
              </a:lnSpc>
            </a:pPr>
            <a:r>
              <a:rPr lang="en-US" sz="2676">
                <a:solidFill>
                  <a:srgbClr val="000000"/>
                </a:solidFill>
                <a:latin typeface="Times New Roman MT"/>
                <a:ea typeface="Times New Roman MT"/>
                <a:cs typeface="Times New Roman MT"/>
                <a:sym typeface="Times New Roman MT"/>
              </a:rPr>
              <a:t>AND price NOT BETWEEN 300 AND 400</a:t>
            </a:r>
          </a:p>
          <a:p>
            <a:pPr algn="just">
              <a:lnSpc>
                <a:spcPts val="3747"/>
              </a:lnSpc>
            </a:pPr>
            <a:r>
              <a:rPr lang="en-US" sz="2676">
                <a:solidFill>
                  <a:srgbClr val="000000"/>
                </a:solidFill>
                <a:latin typeface="Times New Roman MT"/>
                <a:ea typeface="Times New Roman MT"/>
                <a:cs typeface="Times New Roman MT"/>
                <a:sym typeface="Times New Roman MT"/>
              </a:rPr>
              <a:t>AND part_id NOT IN ('P999');</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1505795">
            <a:off x="-3644980" y="-3579834"/>
            <a:ext cx="5729859" cy="8229600"/>
          </a:xfrm>
          <a:custGeom>
            <a:avLst/>
            <a:gdLst/>
            <a:ahLst/>
            <a:cxnLst/>
            <a:rect r="r" b="b" t="t" l="l"/>
            <a:pathLst>
              <a:path h="8229600" w="5729859">
                <a:moveTo>
                  <a:pt x="0" y="0"/>
                </a:moveTo>
                <a:lnTo>
                  <a:pt x="5729859" y="0"/>
                </a:lnTo>
                <a:lnTo>
                  <a:pt x="572985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7777106" y="4604006"/>
            <a:ext cx="8296035" cy="5035294"/>
          </a:xfrm>
          <a:custGeom>
            <a:avLst/>
            <a:gdLst/>
            <a:ahLst/>
            <a:cxnLst/>
            <a:rect r="r" b="b" t="t" l="l"/>
            <a:pathLst>
              <a:path h="5035294" w="8296035">
                <a:moveTo>
                  <a:pt x="0" y="0"/>
                </a:moveTo>
                <a:lnTo>
                  <a:pt x="8296035" y="0"/>
                </a:lnTo>
                <a:lnTo>
                  <a:pt x="8296035" y="5035294"/>
                </a:lnTo>
                <a:lnTo>
                  <a:pt x="0" y="5035294"/>
                </a:lnTo>
                <a:lnTo>
                  <a:pt x="0" y="0"/>
                </a:lnTo>
                <a:close/>
              </a:path>
            </a:pathLst>
          </a:custGeom>
          <a:blipFill>
            <a:blip r:embed="rId3"/>
            <a:stretch>
              <a:fillRect l="0" t="0" r="0" b="0"/>
            </a:stretch>
          </a:blipFill>
        </p:spPr>
      </p:sp>
      <p:sp>
        <p:nvSpPr>
          <p:cNvPr name="TextBox 4" id="4"/>
          <p:cNvSpPr txBox="true"/>
          <p:nvPr/>
        </p:nvSpPr>
        <p:spPr>
          <a:xfrm rot="0">
            <a:off x="953791" y="669532"/>
            <a:ext cx="16460491" cy="5637484"/>
          </a:xfrm>
          <a:prstGeom prst="rect">
            <a:avLst/>
          </a:prstGeom>
        </p:spPr>
        <p:txBody>
          <a:bodyPr anchor="t" rtlCol="false" tIns="0" lIns="0" bIns="0" rIns="0">
            <a:spAutoFit/>
          </a:bodyPr>
          <a:lstStyle/>
          <a:p>
            <a:pPr algn="just">
              <a:lnSpc>
                <a:spcPts val="3747"/>
              </a:lnSpc>
            </a:pPr>
            <a:r>
              <a:rPr lang="en-US" sz="2676">
                <a:solidFill>
                  <a:srgbClr val="000000"/>
                </a:solidFill>
                <a:latin typeface="Times New Roman MT"/>
                <a:ea typeface="Times New Roman MT"/>
                <a:cs typeface="Times New Roman MT"/>
                <a:sym typeface="Times New Roman MT"/>
              </a:rPr>
              <a:t>11</a:t>
            </a:r>
            <a:r>
              <a:rPr lang="en-US" sz="2676">
                <a:solidFill>
                  <a:srgbClr val="000000"/>
                </a:solidFill>
                <a:latin typeface="Times New Roman MT"/>
                <a:ea typeface="Times New Roman MT"/>
                <a:cs typeface="Times New Roman MT"/>
                <a:sym typeface="Times New Roman MT"/>
              </a:rPr>
              <a:t>. SET OPERATIONS (UNION)</a:t>
            </a:r>
          </a:p>
          <a:p>
            <a:pPr algn="just">
              <a:lnSpc>
                <a:spcPts val="3747"/>
              </a:lnSpc>
            </a:pPr>
            <a:r>
              <a:rPr lang="en-US" sz="2676">
                <a:solidFill>
                  <a:srgbClr val="000000"/>
                </a:solidFill>
                <a:latin typeface="Times New Roman MT"/>
                <a:ea typeface="Times New Roman MT"/>
                <a:cs typeface="Times New Roman MT"/>
                <a:sym typeface="Times New Roman MT"/>
              </a:rPr>
              <a:t>Use case: Get a combined list of all vehicle IDs that have either had a 'General Service' OR a 'Brake Service', to identify vehicles needing regular attention.</a:t>
            </a:r>
          </a:p>
          <a:p>
            <a:pPr algn="just">
              <a:lnSpc>
                <a:spcPts val="3747"/>
              </a:lnSpc>
            </a:pPr>
            <a:r>
              <a:rPr lang="en-US" sz="2676">
                <a:solidFill>
                  <a:srgbClr val="000000"/>
                </a:solidFill>
                <a:latin typeface="Times New Roman MT"/>
                <a:ea typeface="Times New Roman MT"/>
                <a:cs typeface="Times New Roman MT"/>
                <a:sym typeface="Times New Roman MT"/>
              </a:rPr>
              <a:t>SELECT vehicle_id, 'General Service' AS service_category</a:t>
            </a:r>
          </a:p>
          <a:p>
            <a:pPr algn="just">
              <a:lnSpc>
                <a:spcPts val="3747"/>
              </a:lnSpc>
            </a:pPr>
            <a:r>
              <a:rPr lang="en-US" sz="2676">
                <a:solidFill>
                  <a:srgbClr val="000000"/>
                </a:solidFill>
                <a:latin typeface="Times New Roman MT"/>
                <a:ea typeface="Times New Roman MT"/>
                <a:cs typeface="Times New Roman MT"/>
                <a:sym typeface="Times New Roman MT"/>
              </a:rPr>
              <a:t>FROM SERVICE</a:t>
            </a:r>
          </a:p>
          <a:p>
            <a:pPr algn="just">
              <a:lnSpc>
                <a:spcPts val="3747"/>
              </a:lnSpc>
            </a:pPr>
            <a:r>
              <a:rPr lang="en-US" sz="2676">
                <a:solidFill>
                  <a:srgbClr val="000000"/>
                </a:solidFill>
                <a:latin typeface="Times New Roman MT"/>
                <a:ea typeface="Times New Roman MT"/>
                <a:cs typeface="Times New Roman MT"/>
                <a:sym typeface="Times New Roman MT"/>
              </a:rPr>
              <a:t>WHERE service_type = 'General Service'</a:t>
            </a:r>
          </a:p>
          <a:p>
            <a:pPr algn="just">
              <a:lnSpc>
                <a:spcPts val="3747"/>
              </a:lnSpc>
            </a:pPr>
            <a:r>
              <a:rPr lang="en-US" sz="2676">
                <a:solidFill>
                  <a:srgbClr val="000000"/>
                </a:solidFill>
                <a:latin typeface="Times New Roman MT"/>
                <a:ea typeface="Times New Roman MT"/>
                <a:cs typeface="Times New Roman MT"/>
                <a:sym typeface="Times New Roman MT"/>
              </a:rPr>
              <a:t> UNION</a:t>
            </a:r>
          </a:p>
          <a:p>
            <a:pPr algn="just">
              <a:lnSpc>
                <a:spcPts val="3747"/>
              </a:lnSpc>
            </a:pPr>
            <a:r>
              <a:rPr lang="en-US" sz="2676">
                <a:solidFill>
                  <a:srgbClr val="000000"/>
                </a:solidFill>
                <a:latin typeface="Times New Roman MT"/>
                <a:ea typeface="Times New Roman MT"/>
                <a:cs typeface="Times New Roman MT"/>
                <a:sym typeface="Times New Roman MT"/>
              </a:rPr>
              <a:t> SELECT vehicle_id, 'Brake Service' AS service_category</a:t>
            </a:r>
          </a:p>
          <a:p>
            <a:pPr algn="just">
              <a:lnSpc>
                <a:spcPts val="3747"/>
              </a:lnSpc>
            </a:pPr>
            <a:r>
              <a:rPr lang="en-US" sz="2676">
                <a:solidFill>
                  <a:srgbClr val="000000"/>
                </a:solidFill>
                <a:latin typeface="Times New Roman MT"/>
                <a:ea typeface="Times New Roman MT"/>
                <a:cs typeface="Times New Roman MT"/>
                <a:sym typeface="Times New Roman MT"/>
              </a:rPr>
              <a:t>FROM SERVICE</a:t>
            </a:r>
          </a:p>
          <a:p>
            <a:pPr algn="just">
              <a:lnSpc>
                <a:spcPts val="3747"/>
              </a:lnSpc>
            </a:pPr>
            <a:r>
              <a:rPr lang="en-US" sz="2676">
                <a:solidFill>
                  <a:srgbClr val="000000"/>
                </a:solidFill>
                <a:latin typeface="Times New Roman MT"/>
                <a:ea typeface="Times New Roman MT"/>
                <a:cs typeface="Times New Roman MT"/>
                <a:sym typeface="Times New Roman MT"/>
              </a:rPr>
              <a:t>WHERE service_type = 'Brake Service'</a:t>
            </a:r>
          </a:p>
          <a:p>
            <a:pPr algn="just">
              <a:lnSpc>
                <a:spcPts val="3747"/>
              </a:lnSpc>
            </a:pPr>
            <a:r>
              <a:rPr lang="en-US" sz="2676">
                <a:solidFill>
                  <a:srgbClr val="000000"/>
                </a:solidFill>
                <a:latin typeface="Times New Roman MT"/>
                <a:ea typeface="Times New Roman MT"/>
                <a:cs typeface="Times New Roman MT"/>
                <a:sym typeface="Times New Roman MT"/>
              </a:rPr>
              <a:t> ORDER BY vehicle_id;</a:t>
            </a:r>
          </a:p>
          <a:p>
            <a:pPr algn="just">
              <a:lnSpc>
                <a:spcPts val="3747"/>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1F1F1">
                <a:alpha val="100000"/>
              </a:srgbClr>
            </a:gs>
            <a:gs pos="50000">
              <a:srgbClr val="FFFFFF">
                <a:alpha val="100000"/>
              </a:srgbClr>
            </a:gs>
            <a:gs pos="100000">
              <a:srgbClr val="F1F1F1">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224318" y="-7273107"/>
            <a:ext cx="10887150" cy="15420090"/>
          </a:xfrm>
          <a:custGeom>
            <a:avLst/>
            <a:gdLst/>
            <a:ahLst/>
            <a:cxnLst/>
            <a:rect r="r" b="b" t="t" l="l"/>
            <a:pathLst>
              <a:path h="15420090" w="10887150">
                <a:moveTo>
                  <a:pt x="0" y="0"/>
                </a:moveTo>
                <a:lnTo>
                  <a:pt x="10887150" y="0"/>
                </a:lnTo>
                <a:lnTo>
                  <a:pt x="10887150" y="15420089"/>
                </a:lnTo>
                <a:lnTo>
                  <a:pt x="0" y="15420089"/>
                </a:lnTo>
                <a:lnTo>
                  <a:pt x="0" y="0"/>
                </a:lnTo>
                <a:close/>
              </a:path>
            </a:pathLst>
          </a:custGeom>
          <a:blipFill>
            <a:blip r:embed="rId2"/>
            <a:stretch>
              <a:fillRect l="0" t="0" r="0" b="0"/>
            </a:stretch>
          </a:blipFill>
        </p:spPr>
      </p:sp>
      <p:sp>
        <p:nvSpPr>
          <p:cNvPr name="Freeform 3" id="3"/>
          <p:cNvSpPr/>
          <p:nvPr/>
        </p:nvSpPr>
        <p:spPr>
          <a:xfrm flipH="false" flipV="false" rot="-1675130">
            <a:off x="-6386631" y="4285641"/>
            <a:ext cx="7797546" cy="8229600"/>
          </a:xfrm>
          <a:custGeom>
            <a:avLst/>
            <a:gdLst/>
            <a:ahLst/>
            <a:cxnLst/>
            <a:rect r="r" b="b" t="t" l="l"/>
            <a:pathLst>
              <a:path h="8229600" w="7797546">
                <a:moveTo>
                  <a:pt x="0" y="0"/>
                </a:moveTo>
                <a:lnTo>
                  <a:pt x="7797546" y="0"/>
                </a:lnTo>
                <a:lnTo>
                  <a:pt x="7797546" y="8229600"/>
                </a:lnTo>
                <a:lnTo>
                  <a:pt x="0" y="8229600"/>
                </a:lnTo>
                <a:lnTo>
                  <a:pt x="0" y="0"/>
                </a:lnTo>
                <a:close/>
              </a:path>
            </a:pathLst>
          </a:custGeom>
          <a:blipFill>
            <a:blip r:embed="rId3"/>
            <a:stretch>
              <a:fillRect l="0" t="0" r="0" b="0"/>
            </a:stretch>
          </a:blipFill>
        </p:spPr>
      </p:sp>
      <p:sp>
        <p:nvSpPr>
          <p:cNvPr name="TextBox 4" id="4"/>
          <p:cNvSpPr txBox="true"/>
          <p:nvPr/>
        </p:nvSpPr>
        <p:spPr>
          <a:xfrm rot="0">
            <a:off x="2781300" y="2803603"/>
            <a:ext cx="12568600" cy="2736851"/>
          </a:xfrm>
          <a:prstGeom prst="rect">
            <a:avLst/>
          </a:prstGeom>
        </p:spPr>
        <p:txBody>
          <a:bodyPr anchor="t" rtlCol="false" tIns="0" lIns="0" bIns="0" rIns="0">
            <a:spAutoFit/>
          </a:bodyPr>
          <a:lstStyle/>
          <a:p>
            <a:pPr algn="l">
              <a:lnSpc>
                <a:spcPts val="22399"/>
              </a:lnSpc>
            </a:pPr>
            <a:r>
              <a:rPr lang="en-US" sz="15999" spc="-959">
                <a:gradFill>
                  <a:gsLst>
                    <a:gs pos="0">
                      <a:srgbClr val="8F8F8F">
                        <a:alpha val="100000"/>
                      </a:srgbClr>
                    </a:gs>
                    <a:gs pos="33333">
                      <a:srgbClr val="000000">
                        <a:alpha val="100000"/>
                      </a:srgbClr>
                    </a:gs>
                    <a:gs pos="66667">
                      <a:srgbClr val="000000">
                        <a:alpha val="100000"/>
                      </a:srgbClr>
                    </a:gs>
                    <a:gs pos="100000">
                      <a:srgbClr val="8F8F8F">
                        <a:alpha val="100000"/>
                      </a:srgbClr>
                    </a:gs>
                  </a:gsLst>
                  <a:lin ang="2700000"/>
                </a:gradFill>
                <a:latin typeface="Gotham"/>
                <a:ea typeface="Gotham"/>
                <a:cs typeface="Gotham"/>
                <a:sym typeface="Gotham"/>
              </a:rPr>
              <a:t>THANK YOU</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DAHJQGdHwr8</dc:identifier>
  <dcterms:modified xsi:type="dcterms:W3CDTF">2011-08-01T06:04:30Z</dcterms:modified>
  <cp:revision>1</cp:revision>
  <dc:title>DBMS_Mini_Project</dc:title>
</cp:coreProperties>
</file>